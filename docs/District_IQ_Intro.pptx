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4226ee65-c324-b631-739c-e48e3c2d8d6c}">
          <p14:sldIdLst>
            <p14:sldId id="256"/>
          </p14:sldIdLst>
        </p14:section>
        <p14:section name="Solution" id="{4769fb49-9b81-c5db-dc01-2b6288250d47}">
          <p14:sldIdLst>
            <p14:sldId id="257"/>
          </p14:sldIdLst>
        </p14:section>
        <p14:section name="Roadmap" id="{9b2a44a3-4399-ed8a-f02c-81184e5f1b2b}">
          <p14:sldIdLst>
            <p14:sldId id="258"/>
          </p14:sldIdLst>
        </p14:section>
        <p14:section name="Why us" id="{b00b7212-4846-5dee-878f-495e7ae5f35c}">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the District IQ team. Our task is FarmwiseAI Task 6: a unified application and district intelligence system for the Collector, and we built it for Chennai district.
Here is how we understood the problem. A District Collector gets information from many channels: citizen grievances, police reports, PWD registers, hospital MIS, IMD weather warnings, pollution data, the flood monitor and the daily news. Each one has its own format and its own IDs, and none of them talks to the others.
So one waterlogged street shows up as four separate records: a citizen complaint, a police call, a PWD entry and a news story. Four records, zero links. The Collector cannot see the real scale, departments do the same work twice, and when something is closed there is no proof it was actually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have built is a working system, not a mock-up. It runs as one pipeline in six steps.
One, Collect: eight feeds are collected automatically. Real public data such as news, IMD weather, CPCB air quality, the Chennai flood monitor and market prices, plus realistic department records for grievances, police, PWD and hospitals.
Two, Understand: our Python pipeline cleans every record, classifies it, places it in one of the 200 GCC wards, removes duplicates and links the same real-world incident across sources.
Three, Store: the result goes into one curated store. Locally in SQLite and MySQL, and in the cloud on AWS S3 and DynamoDB.
Four, Show: role-based web consoles. A citizen portal, a four-page Collector console, and 25 department officer consoles.
Five, Ask: an AI assistant called Ask District IQ answers questions in English, Tamil or Tanglish, and every number it gives is checked against the data.
Six, Decide: an officer completes the work with a site photo, the Collector verifies it or sends it back, and every action is written to an audit log.
Some numbers: 8 feeds, over 20,600 news articles, 25 department consoles, and 0.99 precision when we link the same incident across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plan to do next, in three phases.
Phase 1, Pilot: bring real data in. Today our grievance, police, PWD and hospital records are realistic synthetic data, because we do not have access to the real department systems. The pipeline already has one loader per source, so plugging in a real system means writing one new loader. We will also hand-label more news to lift the accuracy of the news incident filter, and use full article text so English and Tamil stories about the same event can be joined.
Phase 2, Field: a mobile app for field officers with geotagged photos, SMS or WhatsApp alerts for severe incidents, and a fully serverless AWS setup, with scheduling and the ML build in the cloud.
Phase 3, Scale: nothing in the system is hard-coded to Chennai. A new district only needs its reference data: wards, taluks and departments. That allows a state-level view across Collectors. We also want to learn the priority weights from the Collector's own past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why we believe our solution is the best.
One: one incident, not four records. Most dashboards just put the sources side by side. We actually link the same real-world incident across grievance, police, PWD and news, and we measured it: 0.99 precision.
Two: numbers are never invented. The AI only understands the question and writes the sentence. Every number comes from SQL and statistics, and a verifier rejects any answer that contains a number not found in the data. For a government officer, that is the difference between a toy and a tool.
Three: every priority is explained in plain words, like past deadline, reported by three sources, or linked to rain. No black box.
Four: a closed loop with proof. The officer completes the work with a site photo, the Collector verifies or sends it back, and everything is in the audit log.
Five: it speaks Chennai's languages, English, Tamil and Tanglish, even with spelling mistakes.
Six: it is working and tested today, with about 300 automated tests, and it runs on AWS with Lambda, S3, DynamoDB and Bedrock.
Now my teammate will show you the whole system live, from start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754880"/>
            <a:ext cx="6400800" cy="274320"/>
          </a:xfrm>
          <a:prstGeom prst="rect">
            <a:avLst/>
          </a:prstGeom>
          <a:noFill/>
          <a:ln/>
        </p:spPr>
        <p:txBody>
          <a:bodyPr wrap="square" rtlCol="0" anchor="ctr"/>
          <a:lstStyle/>
          <a:p>
            <a:pPr indent="0" marL="0">
              <a:buNone/>
            </a:pPr>
            <a:r>
              <a:rPr lang="en-US" sz="900" dirty="0">
                <a:solidFill>
                  <a:schemeClr val="accent3"/>
                </a:solidFill>
              </a:rPr>
              <a:t>District IQ  ·  FarmwiseAI Campus Product Challenge, Task 6  ·  Chennai</a:t>
            </a:r>
            <a:endParaRPr lang="en-US" sz="9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754880"/>
            <a:ext cx="6400800" cy="274320"/>
          </a:xfrm>
          <a:prstGeom prst="rect">
            <a:avLst/>
          </a:prstGeom>
          <a:noFill/>
          <a:ln/>
        </p:spPr>
        <p:txBody>
          <a:bodyPr wrap="square" rtlCol="0" anchor="ctr"/>
          <a:lstStyle/>
          <a:p>
            <a:pPr indent="0" marL="0">
              <a:buNone/>
            </a:pPr>
            <a:r>
              <a:rPr lang="en-US" sz="900" dirty="0">
                <a:solidFill>
                  <a:schemeClr val="accent4"/>
                </a:solidFill>
              </a:rPr>
              <a:t>District IQ  ·  FarmwiseAI Campus Product Challenge, Task 6  ·  Chennai</a:t>
            </a:r>
            <a:endParaRPr lang="en-US" sz="9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411480"/>
            <a:ext cx="4206240" cy="274320"/>
          </a:xfrm>
          <a:prstGeom prst="rect">
            <a:avLst/>
          </a:prstGeom>
          <a:noFill/>
          <a:ln/>
        </p:spPr>
        <p:txBody>
          <a:bodyPr wrap="square" lIns="0" tIns="0" rIns="0" bIns="0" rtlCol="0" anchor="ctr"/>
          <a:lstStyle/>
          <a:p>
            <a:pPr indent="0" marL="0">
              <a:buNone/>
            </a:pPr>
            <a:r>
              <a:rPr lang="en-US" sz="1000" b="1" spc="200" kern="0" dirty="0">
                <a:solidFill>
                  <a:schemeClr val="accent2"/>
                </a:solidFill>
              </a:rPr>
              <a:t>FARMWISEAI CAMPUS PRODUCT CHALLENGE  ·  TASK 6</a:t>
            </a:r>
            <a:endParaRPr lang="en-US" sz="1000" dirty="0"/>
          </a:p>
        </p:txBody>
      </p:sp>
      <p:sp>
        <p:nvSpPr>
          <p:cNvPr id="3" name="Text 1"/>
          <p:cNvSpPr txBox="1"/>
          <p:nvPr/>
        </p:nvSpPr>
        <p:spPr>
          <a:xfrm>
            <a:off x="457200" y="731520"/>
            <a:ext cx="4206240" cy="73152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District IQ</a:t>
            </a:r>
            <a:endParaRPr lang="en-US" sz="4400" dirty="0"/>
          </a:p>
        </p:txBody>
      </p:sp>
      <p:sp>
        <p:nvSpPr>
          <p:cNvPr id="4" name="Text 2"/>
          <p:cNvSpPr txBox="1"/>
          <p:nvPr/>
        </p:nvSpPr>
        <p:spPr>
          <a:xfrm>
            <a:off x="457200" y="1463040"/>
            <a:ext cx="4206240" cy="320040"/>
          </a:xfrm>
          <a:prstGeom prst="rect">
            <a:avLst/>
          </a:prstGeom>
          <a:noFill/>
          <a:ln/>
        </p:spPr>
        <p:txBody>
          <a:bodyPr wrap="square" lIns="0" tIns="0" rIns="0" bIns="0" rtlCol="0" anchor="ctr"/>
          <a:lstStyle/>
          <a:p>
            <a:pPr indent="0" marL="0">
              <a:buNone/>
            </a:pPr>
            <a:r>
              <a:rPr lang="en-US" sz="1400" i="1" dirty="0">
                <a:solidFill>
                  <a:schemeClr val="accent3"/>
                </a:solidFill>
              </a:rPr>
              <a:t>Chennai Intelligent District Governance Platform</a:t>
            </a:r>
            <a:endParaRPr lang="en-US" sz="1400" dirty="0"/>
          </a:p>
        </p:txBody>
      </p:sp>
      <p:sp>
        <p:nvSpPr>
          <p:cNvPr id="5" name="Text 3"/>
          <p:cNvSpPr txBox="1"/>
          <p:nvPr/>
        </p:nvSpPr>
        <p:spPr>
          <a:xfrm>
            <a:off x="457200" y="2057400"/>
            <a:ext cx="4206240" cy="320040"/>
          </a:xfrm>
          <a:prstGeom prst="rect">
            <a:avLst/>
          </a:prstGeom>
          <a:noFill/>
          <a:ln/>
        </p:spPr>
        <p:txBody>
          <a:bodyPr wrap="square" lIns="0" tIns="0" rIns="0" bIns="0" rtlCol="0" anchor="ctr"/>
          <a:lstStyle/>
          <a:p>
            <a:pPr indent="0" marL="0">
              <a:buNone/>
            </a:pPr>
            <a:r>
              <a:rPr lang="en-US" sz="1600" b="1" dirty="0">
                <a:solidFill>
                  <a:schemeClr val="accent2"/>
                </a:solidFill>
              </a:rPr>
              <a:t>The problem as we understood it</a:t>
            </a:r>
            <a:endParaRPr lang="en-US" sz="1600" dirty="0"/>
          </a:p>
        </p:txBody>
      </p:sp>
      <p:sp>
        <p:nvSpPr>
          <p:cNvPr id="6" name="Text 4"/>
          <p:cNvSpPr txBox="1"/>
          <p:nvPr/>
        </p:nvSpPr>
        <p:spPr>
          <a:xfrm>
            <a:off x="457200" y="2423160"/>
            <a:ext cx="4114800" cy="17373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bg1"/>
                </a:solidFill>
              </a:rPr>
              <a:t>A Collector gets information from many channels that never talk to each other.</a:t>
            </a:r>
            <a:endParaRPr lang="en-US" sz="1400" dirty="0"/>
          </a:p>
          <a:p>
            <a:pPr marL="203200" indent="-203200">
              <a:spcAft>
                <a:spcPts val="800"/>
              </a:spcAft>
              <a:buSzPct val="100000"/>
              <a:buChar char="•"/>
            </a:pPr>
            <a:r>
              <a:rPr lang="en-US" sz="1400" dirty="0">
                <a:solidFill>
                  <a:schemeClr val="bg1"/>
                </a:solidFill>
              </a:rPr>
              <a:t>Each has its own format and its own IDs, so nothing joins up.</a:t>
            </a:r>
            <a:endParaRPr lang="en-US" sz="1400" dirty="0"/>
          </a:p>
          <a:p>
            <a:pPr marL="203200" indent="-203200">
              <a:spcAft>
                <a:spcPts val="800"/>
              </a:spcAft>
              <a:buSzPct val="100000"/>
              <a:buChar char="•"/>
            </a:pPr>
            <a:r>
              <a:rPr lang="en-US" sz="1400" dirty="0">
                <a:solidFill>
                  <a:schemeClr val="bg1"/>
                </a:solidFill>
              </a:rPr>
              <a:t>Result: double work, missed problems, and no proof of what was actually done.</a:t>
            </a:r>
            <a:endParaRPr lang="en-US" sz="1400" dirty="0"/>
          </a:p>
        </p:txBody>
      </p:sp>
      <p:sp>
        <p:nvSpPr>
          <p:cNvPr id="7" name="chan-0"/>
          <p:cNvSpPr/>
          <p:nvPr/>
        </p:nvSpPr>
        <p:spPr>
          <a:xfrm>
            <a:off x="5029200" y="411480"/>
            <a:ext cx="1783080" cy="438912"/>
          </a:xfrm>
          <a:prstGeom prst="roundRect">
            <a:avLst>
              <a:gd name="adj" fmla="val 16667"/>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5148072" y="521208"/>
            <a:ext cx="219456" cy="219456"/>
          </a:xfrm>
          <a:prstGeom prst="rect">
            <a:avLst/>
          </a:prstGeom>
        </p:spPr>
      </p:pic>
      <p:sp>
        <p:nvSpPr>
          <p:cNvPr id="9" name="Text 6"/>
          <p:cNvSpPr txBox="1"/>
          <p:nvPr/>
        </p:nvSpPr>
        <p:spPr>
          <a:xfrm>
            <a:off x="5440680" y="411480"/>
            <a:ext cx="1325880" cy="438912"/>
          </a:xfrm>
          <a:prstGeom prst="rect">
            <a:avLst/>
          </a:prstGeom>
          <a:noFill/>
          <a:ln/>
        </p:spPr>
        <p:txBody>
          <a:bodyPr wrap="square" lIns="0" tIns="0" rIns="0" bIns="0" rtlCol="0" anchor="ctr"/>
          <a:lstStyle/>
          <a:p>
            <a:pPr indent="0" marL="0">
              <a:buNone/>
            </a:pPr>
            <a:r>
              <a:rPr lang="en-US" sz="1100" dirty="0">
                <a:solidFill>
                  <a:schemeClr val="bg1"/>
                </a:solidFill>
              </a:rPr>
              <a:t>Citizen grievances</a:t>
            </a:r>
            <a:endParaRPr lang="en-US" sz="1100" dirty="0"/>
          </a:p>
        </p:txBody>
      </p:sp>
      <p:sp>
        <p:nvSpPr>
          <p:cNvPr id="10" name="chan-1"/>
          <p:cNvSpPr/>
          <p:nvPr/>
        </p:nvSpPr>
        <p:spPr>
          <a:xfrm>
            <a:off x="6903720" y="411480"/>
            <a:ext cx="1783080" cy="438912"/>
          </a:xfrm>
          <a:prstGeom prst="roundRect">
            <a:avLst>
              <a:gd name="adj" fmla="val 16667"/>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7022592" y="521208"/>
            <a:ext cx="219456" cy="219456"/>
          </a:xfrm>
          <a:prstGeom prst="rect">
            <a:avLst/>
          </a:prstGeom>
        </p:spPr>
      </p:pic>
      <p:sp>
        <p:nvSpPr>
          <p:cNvPr id="12" name="Text 8"/>
          <p:cNvSpPr txBox="1"/>
          <p:nvPr/>
        </p:nvSpPr>
        <p:spPr>
          <a:xfrm>
            <a:off x="7315200" y="411480"/>
            <a:ext cx="1325880" cy="438912"/>
          </a:xfrm>
          <a:prstGeom prst="rect">
            <a:avLst/>
          </a:prstGeom>
          <a:noFill/>
          <a:ln/>
        </p:spPr>
        <p:txBody>
          <a:bodyPr wrap="square" lIns="0" tIns="0" rIns="0" bIns="0" rtlCol="0" anchor="ctr"/>
          <a:lstStyle/>
          <a:p>
            <a:pPr indent="0" marL="0">
              <a:buNone/>
            </a:pPr>
            <a:r>
              <a:rPr lang="en-US" sz="1100" dirty="0">
                <a:solidFill>
                  <a:schemeClr val="bg1"/>
                </a:solidFill>
              </a:rPr>
              <a:t>Police reports</a:t>
            </a:r>
            <a:endParaRPr lang="en-US" sz="1100" dirty="0"/>
          </a:p>
        </p:txBody>
      </p:sp>
      <p:sp>
        <p:nvSpPr>
          <p:cNvPr id="13" name="chan-2"/>
          <p:cNvSpPr/>
          <p:nvPr/>
        </p:nvSpPr>
        <p:spPr>
          <a:xfrm>
            <a:off x="5029200" y="960120"/>
            <a:ext cx="1783080" cy="438912"/>
          </a:xfrm>
          <a:prstGeom prst="roundRect">
            <a:avLst>
              <a:gd name="adj" fmla="val 16667"/>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5148072" y="1069848"/>
            <a:ext cx="219456" cy="219456"/>
          </a:xfrm>
          <a:prstGeom prst="rect">
            <a:avLst/>
          </a:prstGeom>
        </p:spPr>
      </p:pic>
      <p:sp>
        <p:nvSpPr>
          <p:cNvPr id="15" name="Text 10"/>
          <p:cNvSpPr txBox="1"/>
          <p:nvPr/>
        </p:nvSpPr>
        <p:spPr>
          <a:xfrm>
            <a:off x="5440680" y="960120"/>
            <a:ext cx="1325880" cy="438912"/>
          </a:xfrm>
          <a:prstGeom prst="rect">
            <a:avLst/>
          </a:prstGeom>
          <a:noFill/>
          <a:ln/>
        </p:spPr>
        <p:txBody>
          <a:bodyPr wrap="square" lIns="0" tIns="0" rIns="0" bIns="0" rtlCol="0" anchor="ctr"/>
          <a:lstStyle/>
          <a:p>
            <a:pPr indent="0" marL="0">
              <a:buNone/>
            </a:pPr>
            <a:r>
              <a:rPr lang="en-US" sz="1100" dirty="0">
                <a:solidFill>
                  <a:schemeClr val="bg1"/>
                </a:solidFill>
              </a:rPr>
              <a:t>PWD registers</a:t>
            </a:r>
            <a:endParaRPr lang="en-US" sz="1100" dirty="0"/>
          </a:p>
        </p:txBody>
      </p:sp>
      <p:sp>
        <p:nvSpPr>
          <p:cNvPr id="16" name="chan-3"/>
          <p:cNvSpPr/>
          <p:nvPr/>
        </p:nvSpPr>
        <p:spPr>
          <a:xfrm>
            <a:off x="6903720" y="960120"/>
            <a:ext cx="1783080" cy="438912"/>
          </a:xfrm>
          <a:prstGeom prst="roundRect">
            <a:avLst>
              <a:gd name="adj" fmla="val 16667"/>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7022592" y="1069848"/>
            <a:ext cx="219456" cy="219456"/>
          </a:xfrm>
          <a:prstGeom prst="rect">
            <a:avLst/>
          </a:prstGeom>
        </p:spPr>
      </p:pic>
      <p:sp>
        <p:nvSpPr>
          <p:cNvPr id="18" name="Text 12"/>
          <p:cNvSpPr txBox="1"/>
          <p:nvPr/>
        </p:nvSpPr>
        <p:spPr>
          <a:xfrm>
            <a:off x="7315200" y="960120"/>
            <a:ext cx="1325880" cy="438912"/>
          </a:xfrm>
          <a:prstGeom prst="rect">
            <a:avLst/>
          </a:prstGeom>
          <a:noFill/>
          <a:ln/>
        </p:spPr>
        <p:txBody>
          <a:bodyPr wrap="square" lIns="0" tIns="0" rIns="0" bIns="0" rtlCol="0" anchor="ctr"/>
          <a:lstStyle/>
          <a:p>
            <a:pPr indent="0" marL="0">
              <a:buNone/>
            </a:pPr>
            <a:r>
              <a:rPr lang="en-US" sz="1100" dirty="0">
                <a:solidFill>
                  <a:schemeClr val="bg1"/>
                </a:solidFill>
              </a:rPr>
              <a:t>Hospital MIS</a:t>
            </a:r>
            <a:endParaRPr lang="en-US" sz="1100" dirty="0"/>
          </a:p>
        </p:txBody>
      </p:sp>
      <p:sp>
        <p:nvSpPr>
          <p:cNvPr id="19" name="chan-4"/>
          <p:cNvSpPr/>
          <p:nvPr/>
        </p:nvSpPr>
        <p:spPr>
          <a:xfrm>
            <a:off x="5029200" y="1508760"/>
            <a:ext cx="1783080" cy="438912"/>
          </a:xfrm>
          <a:prstGeom prst="roundRect">
            <a:avLst>
              <a:gd name="adj" fmla="val 16667"/>
            </a:avLst>
          </a:prstGeom>
          <a:solidFill>
            <a:schemeClr val="accent1"/>
          </a:solidFill>
          <a:ln/>
        </p:spPr>
      </p:sp>
      <p:pic>
        <p:nvPicPr>
          <p:cNvPr id="20" name="Image 4" descr="preencoded.png">    </p:cNvPr>
          <p:cNvPicPr>
            <a:picLocks noChangeAspect="1"/>
          </p:cNvPicPr>
          <p:nvPr/>
        </p:nvPicPr>
        <p:blipFill>
          <a:blip r:embed="rId5"/>
          <a:stretch>
            <a:fillRect/>
          </a:stretch>
        </p:blipFill>
        <p:spPr>
          <a:xfrm>
            <a:off x="5148072" y="1618488"/>
            <a:ext cx="219456" cy="219456"/>
          </a:xfrm>
          <a:prstGeom prst="rect">
            <a:avLst/>
          </a:prstGeom>
        </p:spPr>
      </p:pic>
      <p:sp>
        <p:nvSpPr>
          <p:cNvPr id="21" name="Text 14"/>
          <p:cNvSpPr txBox="1"/>
          <p:nvPr/>
        </p:nvSpPr>
        <p:spPr>
          <a:xfrm>
            <a:off x="5440680" y="1508760"/>
            <a:ext cx="1325880" cy="438912"/>
          </a:xfrm>
          <a:prstGeom prst="rect">
            <a:avLst/>
          </a:prstGeom>
          <a:noFill/>
          <a:ln/>
        </p:spPr>
        <p:txBody>
          <a:bodyPr wrap="square" lIns="0" tIns="0" rIns="0" bIns="0" rtlCol="0" anchor="ctr"/>
          <a:lstStyle/>
          <a:p>
            <a:pPr indent="0" marL="0">
              <a:buNone/>
            </a:pPr>
            <a:r>
              <a:rPr lang="en-US" sz="1100" dirty="0">
                <a:solidFill>
                  <a:schemeClr val="bg1"/>
                </a:solidFill>
              </a:rPr>
              <a:t>IMD weather</a:t>
            </a:r>
            <a:endParaRPr lang="en-US" sz="1100" dirty="0"/>
          </a:p>
        </p:txBody>
      </p:sp>
      <p:sp>
        <p:nvSpPr>
          <p:cNvPr id="22" name="chan-5"/>
          <p:cNvSpPr/>
          <p:nvPr/>
        </p:nvSpPr>
        <p:spPr>
          <a:xfrm>
            <a:off x="6903720" y="1508760"/>
            <a:ext cx="1783080" cy="438912"/>
          </a:xfrm>
          <a:prstGeom prst="roundRect">
            <a:avLst>
              <a:gd name="adj" fmla="val 16667"/>
            </a:avLst>
          </a:prstGeom>
          <a:solidFill>
            <a:schemeClr val="accent1"/>
          </a:solidFill>
          <a:ln/>
        </p:spPr>
      </p:sp>
      <p:pic>
        <p:nvPicPr>
          <p:cNvPr id="23" name="Image 5" descr="preencoded.png">    </p:cNvPr>
          <p:cNvPicPr>
            <a:picLocks noChangeAspect="1"/>
          </p:cNvPicPr>
          <p:nvPr/>
        </p:nvPicPr>
        <p:blipFill>
          <a:blip r:embed="rId6"/>
          <a:stretch>
            <a:fillRect/>
          </a:stretch>
        </p:blipFill>
        <p:spPr>
          <a:xfrm>
            <a:off x="7022592" y="1618488"/>
            <a:ext cx="219456" cy="219456"/>
          </a:xfrm>
          <a:prstGeom prst="rect">
            <a:avLst/>
          </a:prstGeom>
        </p:spPr>
      </p:pic>
      <p:sp>
        <p:nvSpPr>
          <p:cNvPr id="24" name="Text 16"/>
          <p:cNvSpPr txBox="1"/>
          <p:nvPr/>
        </p:nvSpPr>
        <p:spPr>
          <a:xfrm>
            <a:off x="7315200" y="1508760"/>
            <a:ext cx="1325880" cy="438912"/>
          </a:xfrm>
          <a:prstGeom prst="rect">
            <a:avLst/>
          </a:prstGeom>
          <a:noFill/>
          <a:ln/>
        </p:spPr>
        <p:txBody>
          <a:bodyPr wrap="square" lIns="0" tIns="0" rIns="0" bIns="0" rtlCol="0" anchor="ctr"/>
          <a:lstStyle/>
          <a:p>
            <a:pPr indent="0" marL="0">
              <a:buNone/>
            </a:pPr>
            <a:r>
              <a:rPr lang="en-US" sz="1100" dirty="0">
                <a:solidFill>
                  <a:schemeClr val="bg1"/>
                </a:solidFill>
              </a:rPr>
              <a:t>CPCB air quality</a:t>
            </a:r>
            <a:endParaRPr lang="en-US" sz="1100" dirty="0"/>
          </a:p>
        </p:txBody>
      </p:sp>
      <p:sp>
        <p:nvSpPr>
          <p:cNvPr id="25" name="chan-6"/>
          <p:cNvSpPr/>
          <p:nvPr/>
        </p:nvSpPr>
        <p:spPr>
          <a:xfrm>
            <a:off x="5029200" y="2057400"/>
            <a:ext cx="1783080" cy="438912"/>
          </a:xfrm>
          <a:prstGeom prst="roundRect">
            <a:avLst>
              <a:gd name="adj" fmla="val 16667"/>
            </a:avLst>
          </a:prstGeom>
          <a:solidFill>
            <a:schemeClr val="accent1"/>
          </a:solidFill>
          <a:ln/>
        </p:spPr>
      </p:sp>
      <p:pic>
        <p:nvPicPr>
          <p:cNvPr id="26" name="Image 6" descr="preencoded.png">    </p:cNvPr>
          <p:cNvPicPr>
            <a:picLocks noChangeAspect="1"/>
          </p:cNvPicPr>
          <p:nvPr/>
        </p:nvPicPr>
        <p:blipFill>
          <a:blip r:embed="rId7"/>
          <a:stretch>
            <a:fillRect/>
          </a:stretch>
        </p:blipFill>
        <p:spPr>
          <a:xfrm>
            <a:off x="5148072" y="2167128"/>
            <a:ext cx="219456" cy="219456"/>
          </a:xfrm>
          <a:prstGeom prst="rect">
            <a:avLst/>
          </a:prstGeom>
        </p:spPr>
      </p:pic>
      <p:sp>
        <p:nvSpPr>
          <p:cNvPr id="27" name="Text 18"/>
          <p:cNvSpPr txBox="1"/>
          <p:nvPr/>
        </p:nvSpPr>
        <p:spPr>
          <a:xfrm>
            <a:off x="5440680" y="2057400"/>
            <a:ext cx="1325880" cy="438912"/>
          </a:xfrm>
          <a:prstGeom prst="rect">
            <a:avLst/>
          </a:prstGeom>
          <a:noFill/>
          <a:ln/>
        </p:spPr>
        <p:txBody>
          <a:bodyPr wrap="square" lIns="0" tIns="0" rIns="0" bIns="0" rtlCol="0" anchor="ctr"/>
          <a:lstStyle/>
          <a:p>
            <a:pPr indent="0" marL="0">
              <a:buNone/>
            </a:pPr>
            <a:r>
              <a:rPr lang="en-US" sz="1100" dirty="0">
                <a:solidFill>
                  <a:schemeClr val="bg1"/>
                </a:solidFill>
              </a:rPr>
              <a:t>Flood monitor</a:t>
            </a:r>
            <a:endParaRPr lang="en-US" sz="1100" dirty="0"/>
          </a:p>
        </p:txBody>
      </p:sp>
      <p:sp>
        <p:nvSpPr>
          <p:cNvPr id="28" name="chan-7"/>
          <p:cNvSpPr/>
          <p:nvPr/>
        </p:nvSpPr>
        <p:spPr>
          <a:xfrm>
            <a:off x="6903720" y="2057400"/>
            <a:ext cx="1783080" cy="438912"/>
          </a:xfrm>
          <a:prstGeom prst="roundRect">
            <a:avLst>
              <a:gd name="adj" fmla="val 16667"/>
            </a:avLst>
          </a:prstGeom>
          <a:solidFill>
            <a:schemeClr val="accent1"/>
          </a:solidFill>
          <a:ln/>
        </p:spPr>
      </p:sp>
      <p:pic>
        <p:nvPicPr>
          <p:cNvPr id="29" name="Image 7" descr="preencoded.png">    </p:cNvPr>
          <p:cNvPicPr>
            <a:picLocks noChangeAspect="1"/>
          </p:cNvPicPr>
          <p:nvPr/>
        </p:nvPicPr>
        <p:blipFill>
          <a:blip r:embed="rId8"/>
          <a:stretch>
            <a:fillRect/>
          </a:stretch>
        </p:blipFill>
        <p:spPr>
          <a:xfrm>
            <a:off x="7022592" y="2167128"/>
            <a:ext cx="219456" cy="219456"/>
          </a:xfrm>
          <a:prstGeom prst="rect">
            <a:avLst/>
          </a:prstGeom>
        </p:spPr>
      </p:pic>
      <p:sp>
        <p:nvSpPr>
          <p:cNvPr id="30" name="Text 20"/>
          <p:cNvSpPr txBox="1"/>
          <p:nvPr/>
        </p:nvSpPr>
        <p:spPr>
          <a:xfrm>
            <a:off x="7315200" y="2057400"/>
            <a:ext cx="1325880" cy="438912"/>
          </a:xfrm>
          <a:prstGeom prst="rect">
            <a:avLst/>
          </a:prstGeom>
          <a:noFill/>
          <a:ln/>
        </p:spPr>
        <p:txBody>
          <a:bodyPr wrap="square" lIns="0" tIns="0" rIns="0" bIns="0" rtlCol="0" anchor="ctr"/>
          <a:lstStyle/>
          <a:p>
            <a:pPr indent="0" marL="0">
              <a:buNone/>
            </a:pPr>
            <a:r>
              <a:rPr lang="en-US" sz="1100" dirty="0">
                <a:solidFill>
                  <a:schemeClr val="bg1"/>
                </a:solidFill>
              </a:rPr>
              <a:t>Daily news</a:t>
            </a:r>
            <a:endParaRPr lang="en-US" sz="1100" dirty="0"/>
          </a:p>
        </p:txBody>
      </p:sp>
      <p:sp>
        <p:nvSpPr>
          <p:cNvPr id="31" name="callout"/>
          <p:cNvSpPr/>
          <p:nvPr/>
        </p:nvSpPr>
        <p:spPr>
          <a:xfrm>
            <a:off x="5029200" y="2743200"/>
            <a:ext cx="3657600" cy="1600200"/>
          </a:xfrm>
          <a:prstGeom prst="roundRect">
            <a:avLst>
              <a:gd name="adj" fmla="val 5714"/>
            </a:avLst>
          </a:prstGeom>
          <a:solidFill>
            <a:schemeClr val="accent2"/>
          </a:solidFill>
          <a:ln/>
        </p:spPr>
      </p:sp>
      <p:sp>
        <p:nvSpPr>
          <p:cNvPr id="32" name="Text 22"/>
          <p:cNvSpPr txBox="1"/>
          <p:nvPr/>
        </p:nvSpPr>
        <p:spPr>
          <a:xfrm>
            <a:off x="5257800" y="2834640"/>
            <a:ext cx="3246120" cy="1417320"/>
          </a:xfrm>
          <a:prstGeom prst="rect">
            <a:avLst/>
          </a:prstGeom>
          <a:noFill/>
          <a:ln/>
        </p:spPr>
        <p:txBody>
          <a:bodyPr wrap="square" lIns="0" tIns="0" rIns="0" bIns="0" rtlCol="0" anchor="ctr"/>
          <a:lstStyle/>
          <a:p>
            <a:pPr indent="0" marL="0">
              <a:spcAft>
                <a:spcPts val="400"/>
              </a:spcAft>
              <a:buNone/>
            </a:pPr>
            <a:r>
              <a:rPr lang="en-US" sz="2400" b="1" dirty="0">
                <a:solidFill>
                  <a:schemeClr val="tx2"/>
                </a:solidFill>
                <a:latin typeface="Cambria" pitchFamily="34" charset="0"/>
                <a:ea typeface="Cambria" pitchFamily="34" charset="-122"/>
                <a:cs typeface="Cambria" pitchFamily="34" charset="-120"/>
              </a:rPr>
              <a:t>1 flooded street</a:t>
            </a:r>
            <a:endParaRPr lang="en-US" sz="2400" dirty="0"/>
          </a:p>
          <a:p>
            <a:pPr indent="0" marL="0">
              <a:spcAft>
                <a:spcPts val="400"/>
              </a:spcAft>
              <a:buNone/>
            </a:pPr>
            <a:r>
              <a:rPr lang="en-US" sz="1300" dirty="0">
                <a:solidFill>
                  <a:schemeClr val="tx2"/>
                </a:solidFill>
              </a:rPr>
              <a:t>= a grievance + a police call + a PWD entry + a news story.</a:t>
            </a:r>
            <a:endParaRPr lang="en-US" sz="2400" dirty="0"/>
          </a:p>
          <a:p>
            <a:pPr indent="0" marL="0">
              <a:spcAft>
                <a:spcPts val="400"/>
              </a:spcAft>
              <a:buNone/>
            </a:pPr>
            <a:r>
              <a:rPr lang="en-US" sz="1300" b="1" dirty="0">
                <a:solidFill>
                  <a:schemeClr val="tx2"/>
                </a:solidFill>
              </a:rPr>
              <a:t>4 records. 0 links. Nobody sees the full picture.</a:t>
            </a:r>
            <a:endParaRPr lang="en-US" sz="2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we have built: one pipeline, end to end</a:t>
            </a:r>
            <a:endParaRPr lang="en-US" sz="3000" dirty="0"/>
          </a:p>
        </p:txBody>
      </p:sp>
      <p:sp>
        <p:nvSpPr>
          <p:cNvPr id="3" name="step-0"/>
          <p:cNvSpPr/>
          <p:nvPr/>
        </p:nvSpPr>
        <p:spPr>
          <a:xfrm>
            <a:off x="457200" y="1188720"/>
            <a:ext cx="1261872" cy="1874520"/>
          </a:xfrm>
          <a:prstGeom prst="roundRect">
            <a:avLst>
              <a:gd name="adj" fmla="val 7246"/>
            </a:avLst>
          </a:prstGeom>
          <a:solidFill>
            <a:schemeClr val="bg2"/>
          </a:solidFill>
          <a:ln/>
        </p:spPr>
      </p:sp>
      <p:sp>
        <p:nvSpPr>
          <p:cNvPr id="4" name="Shape 2"/>
          <p:cNvSpPr/>
          <p:nvPr/>
        </p:nvSpPr>
        <p:spPr>
          <a:xfrm>
            <a:off x="813816" y="1325880"/>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50976" y="1463040"/>
            <a:ext cx="274320" cy="274320"/>
          </a:xfrm>
          <a:prstGeom prst="rect">
            <a:avLst/>
          </a:prstGeom>
        </p:spPr>
      </p:pic>
      <p:sp>
        <p:nvSpPr>
          <p:cNvPr id="6" name="Text 3"/>
          <p:cNvSpPr txBox="1"/>
          <p:nvPr/>
        </p:nvSpPr>
        <p:spPr>
          <a:xfrm>
            <a:off x="530352" y="1965960"/>
            <a:ext cx="1115568" cy="320040"/>
          </a:xfrm>
          <a:prstGeom prst="rect">
            <a:avLst/>
          </a:prstGeom>
          <a:noFill/>
          <a:ln/>
        </p:spPr>
        <p:txBody>
          <a:bodyPr wrap="square" lIns="0" tIns="0" rIns="0" bIns="0" rtlCol="0" anchor="ctr"/>
          <a:lstStyle/>
          <a:p>
            <a:pPr algn="ctr" indent="0" marL="0">
              <a:buNone/>
            </a:pPr>
            <a:r>
              <a:rPr lang="en-US" sz="1400" b="1" dirty="0">
                <a:solidFill>
                  <a:schemeClr val="tx2"/>
                </a:solidFill>
              </a:rPr>
              <a:t>1. Collect</a:t>
            </a:r>
            <a:endParaRPr lang="en-US" sz="1400" dirty="0"/>
          </a:p>
        </p:txBody>
      </p:sp>
      <p:sp>
        <p:nvSpPr>
          <p:cNvPr id="7" name="Text 4"/>
          <p:cNvSpPr txBox="1"/>
          <p:nvPr/>
        </p:nvSpPr>
        <p:spPr>
          <a:xfrm>
            <a:off x="548640" y="2286000"/>
            <a:ext cx="1078992" cy="685800"/>
          </a:xfrm>
          <a:prstGeom prst="rect">
            <a:avLst/>
          </a:prstGeom>
          <a:noFill/>
          <a:ln/>
        </p:spPr>
        <p:txBody>
          <a:bodyPr wrap="square" lIns="0" tIns="0" rIns="0" bIns="0" rtlCol="0" anchor="t"/>
          <a:lstStyle/>
          <a:p>
            <a:pPr algn="ctr" indent="0" marL="0">
              <a:buNone/>
            </a:pPr>
            <a:r>
              <a:rPr lang="en-US" sz="1050" dirty="0">
                <a:solidFill>
                  <a:schemeClr val="tx1"/>
                </a:solidFill>
              </a:rPr>
              <a:t>8 automatic feeds, real + department data</a:t>
            </a:r>
            <a:endParaRPr lang="en-US" sz="1050" dirty="0"/>
          </a:p>
        </p:txBody>
      </p:sp>
      <p:sp>
        <p:nvSpPr>
          <p:cNvPr id="8" name="step-1"/>
          <p:cNvSpPr/>
          <p:nvPr/>
        </p:nvSpPr>
        <p:spPr>
          <a:xfrm>
            <a:off x="1850746" y="1188720"/>
            <a:ext cx="1261872" cy="1874520"/>
          </a:xfrm>
          <a:prstGeom prst="roundRect">
            <a:avLst>
              <a:gd name="adj" fmla="val 7246"/>
            </a:avLst>
          </a:prstGeom>
          <a:solidFill>
            <a:schemeClr val="bg2"/>
          </a:solidFill>
          <a:ln/>
        </p:spPr>
      </p:sp>
      <p:sp>
        <p:nvSpPr>
          <p:cNvPr id="9" name="Shape 6"/>
          <p:cNvSpPr/>
          <p:nvPr/>
        </p:nvSpPr>
        <p:spPr>
          <a:xfrm>
            <a:off x="2207362" y="1325880"/>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2344522" y="1463040"/>
            <a:ext cx="274320" cy="274320"/>
          </a:xfrm>
          <a:prstGeom prst="rect">
            <a:avLst/>
          </a:prstGeom>
        </p:spPr>
      </p:pic>
      <p:sp>
        <p:nvSpPr>
          <p:cNvPr id="11" name="Text 7"/>
          <p:cNvSpPr txBox="1"/>
          <p:nvPr/>
        </p:nvSpPr>
        <p:spPr>
          <a:xfrm>
            <a:off x="1923898" y="1965960"/>
            <a:ext cx="1115568" cy="320040"/>
          </a:xfrm>
          <a:prstGeom prst="rect">
            <a:avLst/>
          </a:prstGeom>
          <a:noFill/>
          <a:ln/>
        </p:spPr>
        <p:txBody>
          <a:bodyPr wrap="square" lIns="0" tIns="0" rIns="0" bIns="0" rtlCol="0" anchor="ctr"/>
          <a:lstStyle/>
          <a:p>
            <a:pPr algn="ctr" indent="0" marL="0">
              <a:buNone/>
            </a:pPr>
            <a:r>
              <a:rPr lang="en-US" sz="1400" b="1" dirty="0">
                <a:solidFill>
                  <a:schemeClr val="tx2"/>
                </a:solidFill>
              </a:rPr>
              <a:t>2. Understand</a:t>
            </a:r>
            <a:endParaRPr lang="en-US" sz="1400" dirty="0"/>
          </a:p>
        </p:txBody>
      </p:sp>
      <p:sp>
        <p:nvSpPr>
          <p:cNvPr id="12" name="Text 8"/>
          <p:cNvSpPr txBox="1"/>
          <p:nvPr/>
        </p:nvSpPr>
        <p:spPr>
          <a:xfrm>
            <a:off x="1942186" y="2286000"/>
            <a:ext cx="1078992" cy="685800"/>
          </a:xfrm>
          <a:prstGeom prst="rect">
            <a:avLst/>
          </a:prstGeom>
          <a:noFill/>
          <a:ln/>
        </p:spPr>
        <p:txBody>
          <a:bodyPr wrap="square" lIns="0" tIns="0" rIns="0" bIns="0" rtlCol="0" anchor="t"/>
          <a:lstStyle/>
          <a:p>
            <a:pPr algn="ctr" indent="0" marL="0">
              <a:buNone/>
            </a:pPr>
            <a:r>
              <a:rPr lang="en-US" sz="1050" dirty="0">
                <a:solidFill>
                  <a:schemeClr val="tx1"/>
                </a:solidFill>
              </a:rPr>
              <a:t>Classify, map to 200 wards, link duplicates</a:t>
            </a:r>
            <a:endParaRPr lang="en-US" sz="1050" dirty="0"/>
          </a:p>
        </p:txBody>
      </p:sp>
      <p:sp>
        <p:nvSpPr>
          <p:cNvPr id="13" name="step-2"/>
          <p:cNvSpPr/>
          <p:nvPr/>
        </p:nvSpPr>
        <p:spPr>
          <a:xfrm>
            <a:off x="3244291" y="1188720"/>
            <a:ext cx="1261872" cy="1874520"/>
          </a:xfrm>
          <a:prstGeom prst="roundRect">
            <a:avLst>
              <a:gd name="adj" fmla="val 7246"/>
            </a:avLst>
          </a:prstGeom>
          <a:solidFill>
            <a:schemeClr val="bg2"/>
          </a:solidFill>
          <a:ln/>
        </p:spPr>
      </p:sp>
      <p:sp>
        <p:nvSpPr>
          <p:cNvPr id="14" name="Shape 10"/>
          <p:cNvSpPr/>
          <p:nvPr/>
        </p:nvSpPr>
        <p:spPr>
          <a:xfrm>
            <a:off x="3600907" y="1325880"/>
            <a:ext cx="548640" cy="54864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3738067" y="1463040"/>
            <a:ext cx="274320" cy="274320"/>
          </a:xfrm>
          <a:prstGeom prst="rect">
            <a:avLst/>
          </a:prstGeom>
        </p:spPr>
      </p:pic>
      <p:sp>
        <p:nvSpPr>
          <p:cNvPr id="16" name="Text 11"/>
          <p:cNvSpPr txBox="1"/>
          <p:nvPr/>
        </p:nvSpPr>
        <p:spPr>
          <a:xfrm>
            <a:off x="3317443" y="1965960"/>
            <a:ext cx="1115568" cy="320040"/>
          </a:xfrm>
          <a:prstGeom prst="rect">
            <a:avLst/>
          </a:prstGeom>
          <a:noFill/>
          <a:ln/>
        </p:spPr>
        <p:txBody>
          <a:bodyPr wrap="square" lIns="0" tIns="0" rIns="0" bIns="0" rtlCol="0" anchor="ctr"/>
          <a:lstStyle/>
          <a:p>
            <a:pPr algn="ctr" indent="0" marL="0">
              <a:buNone/>
            </a:pPr>
            <a:r>
              <a:rPr lang="en-US" sz="1400" b="1" dirty="0">
                <a:solidFill>
                  <a:schemeClr val="tx2"/>
                </a:solidFill>
              </a:rPr>
              <a:t>3. Store</a:t>
            </a:r>
            <a:endParaRPr lang="en-US" sz="1400" dirty="0"/>
          </a:p>
        </p:txBody>
      </p:sp>
      <p:sp>
        <p:nvSpPr>
          <p:cNvPr id="17" name="Text 12"/>
          <p:cNvSpPr txBox="1"/>
          <p:nvPr/>
        </p:nvSpPr>
        <p:spPr>
          <a:xfrm>
            <a:off x="3335731" y="2286000"/>
            <a:ext cx="1078992" cy="685800"/>
          </a:xfrm>
          <a:prstGeom prst="rect">
            <a:avLst/>
          </a:prstGeom>
          <a:noFill/>
          <a:ln/>
        </p:spPr>
        <p:txBody>
          <a:bodyPr wrap="square" lIns="0" tIns="0" rIns="0" bIns="0" rtlCol="0" anchor="t"/>
          <a:lstStyle/>
          <a:p>
            <a:pPr algn="ctr" indent="0" marL="0">
              <a:buNone/>
            </a:pPr>
            <a:r>
              <a:rPr lang="en-US" sz="1050" dirty="0">
                <a:solidFill>
                  <a:schemeClr val="tx1"/>
                </a:solidFill>
              </a:rPr>
              <a:t>SQLite, MySQL and AWS S3 + DynamoDB</a:t>
            </a:r>
            <a:endParaRPr lang="en-US" sz="1050" dirty="0"/>
          </a:p>
        </p:txBody>
      </p:sp>
      <p:sp>
        <p:nvSpPr>
          <p:cNvPr id="18" name="step-3"/>
          <p:cNvSpPr/>
          <p:nvPr/>
        </p:nvSpPr>
        <p:spPr>
          <a:xfrm>
            <a:off x="4637837" y="1188720"/>
            <a:ext cx="1261872" cy="1874520"/>
          </a:xfrm>
          <a:prstGeom prst="roundRect">
            <a:avLst>
              <a:gd name="adj" fmla="val 7246"/>
            </a:avLst>
          </a:prstGeom>
          <a:solidFill>
            <a:schemeClr val="bg2"/>
          </a:solidFill>
          <a:ln/>
        </p:spPr>
      </p:sp>
      <p:sp>
        <p:nvSpPr>
          <p:cNvPr id="19" name="Shape 14"/>
          <p:cNvSpPr/>
          <p:nvPr/>
        </p:nvSpPr>
        <p:spPr>
          <a:xfrm>
            <a:off x="4994453" y="1325880"/>
            <a:ext cx="548640" cy="54864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5131613" y="1463040"/>
            <a:ext cx="274320" cy="274320"/>
          </a:xfrm>
          <a:prstGeom prst="rect">
            <a:avLst/>
          </a:prstGeom>
        </p:spPr>
      </p:pic>
      <p:sp>
        <p:nvSpPr>
          <p:cNvPr id="21" name="Text 15"/>
          <p:cNvSpPr txBox="1"/>
          <p:nvPr/>
        </p:nvSpPr>
        <p:spPr>
          <a:xfrm>
            <a:off x="4710989" y="1965960"/>
            <a:ext cx="1115568" cy="320040"/>
          </a:xfrm>
          <a:prstGeom prst="rect">
            <a:avLst/>
          </a:prstGeom>
          <a:noFill/>
          <a:ln/>
        </p:spPr>
        <p:txBody>
          <a:bodyPr wrap="square" lIns="0" tIns="0" rIns="0" bIns="0" rtlCol="0" anchor="ctr"/>
          <a:lstStyle/>
          <a:p>
            <a:pPr algn="ctr" indent="0" marL="0">
              <a:buNone/>
            </a:pPr>
            <a:r>
              <a:rPr lang="en-US" sz="1400" b="1" dirty="0">
                <a:solidFill>
                  <a:schemeClr val="tx2"/>
                </a:solidFill>
              </a:rPr>
              <a:t>4. Show</a:t>
            </a:r>
            <a:endParaRPr lang="en-US" sz="1400" dirty="0"/>
          </a:p>
        </p:txBody>
      </p:sp>
      <p:sp>
        <p:nvSpPr>
          <p:cNvPr id="22" name="Text 16"/>
          <p:cNvSpPr txBox="1"/>
          <p:nvPr/>
        </p:nvSpPr>
        <p:spPr>
          <a:xfrm>
            <a:off x="4729277" y="2286000"/>
            <a:ext cx="1078992" cy="685800"/>
          </a:xfrm>
          <a:prstGeom prst="rect">
            <a:avLst/>
          </a:prstGeom>
          <a:noFill/>
          <a:ln/>
        </p:spPr>
        <p:txBody>
          <a:bodyPr wrap="square" lIns="0" tIns="0" rIns="0" bIns="0" rtlCol="0" anchor="t"/>
          <a:lstStyle/>
          <a:p>
            <a:pPr algn="ctr" indent="0" marL="0">
              <a:buNone/>
            </a:pPr>
            <a:r>
              <a:rPr lang="en-US" sz="1050" dirty="0">
                <a:solidFill>
                  <a:schemeClr val="tx1"/>
                </a:solidFill>
              </a:rPr>
              <a:t>Citizen portal, Collector, 25 department consoles</a:t>
            </a:r>
            <a:endParaRPr lang="en-US" sz="1050" dirty="0"/>
          </a:p>
        </p:txBody>
      </p:sp>
      <p:sp>
        <p:nvSpPr>
          <p:cNvPr id="23" name="step-4"/>
          <p:cNvSpPr/>
          <p:nvPr/>
        </p:nvSpPr>
        <p:spPr>
          <a:xfrm>
            <a:off x="6031382" y="1188720"/>
            <a:ext cx="1261872" cy="1874520"/>
          </a:xfrm>
          <a:prstGeom prst="roundRect">
            <a:avLst>
              <a:gd name="adj" fmla="val 7246"/>
            </a:avLst>
          </a:prstGeom>
          <a:solidFill>
            <a:schemeClr val="bg2"/>
          </a:solidFill>
          <a:ln/>
        </p:spPr>
      </p:sp>
      <p:sp>
        <p:nvSpPr>
          <p:cNvPr id="24" name="Shape 18"/>
          <p:cNvSpPr/>
          <p:nvPr/>
        </p:nvSpPr>
        <p:spPr>
          <a:xfrm>
            <a:off x="6387998" y="1325880"/>
            <a:ext cx="548640" cy="54864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6525158" y="1463040"/>
            <a:ext cx="274320" cy="274320"/>
          </a:xfrm>
          <a:prstGeom prst="rect">
            <a:avLst/>
          </a:prstGeom>
        </p:spPr>
      </p:pic>
      <p:sp>
        <p:nvSpPr>
          <p:cNvPr id="26" name="Text 19"/>
          <p:cNvSpPr txBox="1"/>
          <p:nvPr/>
        </p:nvSpPr>
        <p:spPr>
          <a:xfrm>
            <a:off x="6104534" y="1965960"/>
            <a:ext cx="1115568" cy="320040"/>
          </a:xfrm>
          <a:prstGeom prst="rect">
            <a:avLst/>
          </a:prstGeom>
          <a:noFill/>
          <a:ln/>
        </p:spPr>
        <p:txBody>
          <a:bodyPr wrap="square" lIns="0" tIns="0" rIns="0" bIns="0" rtlCol="0" anchor="ctr"/>
          <a:lstStyle/>
          <a:p>
            <a:pPr algn="ctr" indent="0" marL="0">
              <a:buNone/>
            </a:pPr>
            <a:r>
              <a:rPr lang="en-US" sz="1400" b="1" dirty="0">
                <a:solidFill>
                  <a:schemeClr val="tx2"/>
                </a:solidFill>
              </a:rPr>
              <a:t>5. Ask</a:t>
            </a:r>
            <a:endParaRPr lang="en-US" sz="1400" dirty="0"/>
          </a:p>
        </p:txBody>
      </p:sp>
      <p:sp>
        <p:nvSpPr>
          <p:cNvPr id="27" name="Text 20"/>
          <p:cNvSpPr txBox="1"/>
          <p:nvPr/>
        </p:nvSpPr>
        <p:spPr>
          <a:xfrm>
            <a:off x="6122822" y="2286000"/>
            <a:ext cx="1078992" cy="685800"/>
          </a:xfrm>
          <a:prstGeom prst="rect">
            <a:avLst/>
          </a:prstGeom>
          <a:noFill/>
          <a:ln/>
        </p:spPr>
        <p:txBody>
          <a:bodyPr wrap="square" lIns="0" tIns="0" rIns="0" bIns="0" rtlCol="0" anchor="t"/>
          <a:lstStyle/>
          <a:p>
            <a:pPr algn="ctr" indent="0" marL="0">
              <a:buNone/>
            </a:pPr>
            <a:r>
              <a:rPr lang="en-US" sz="1050" dirty="0">
                <a:solidFill>
                  <a:schemeClr val="tx1"/>
                </a:solidFill>
              </a:rPr>
              <a:t>AI assistant; every number checked</a:t>
            </a:r>
            <a:endParaRPr lang="en-US" sz="1050" dirty="0"/>
          </a:p>
        </p:txBody>
      </p:sp>
      <p:sp>
        <p:nvSpPr>
          <p:cNvPr id="28" name="step-5"/>
          <p:cNvSpPr/>
          <p:nvPr/>
        </p:nvSpPr>
        <p:spPr>
          <a:xfrm>
            <a:off x="7424928" y="1188720"/>
            <a:ext cx="1261872" cy="1874520"/>
          </a:xfrm>
          <a:prstGeom prst="roundRect">
            <a:avLst>
              <a:gd name="adj" fmla="val 7246"/>
            </a:avLst>
          </a:prstGeom>
          <a:solidFill>
            <a:schemeClr val="bg2"/>
          </a:solidFill>
          <a:ln/>
        </p:spPr>
      </p:sp>
      <p:sp>
        <p:nvSpPr>
          <p:cNvPr id="29" name="Shape 22"/>
          <p:cNvSpPr/>
          <p:nvPr/>
        </p:nvSpPr>
        <p:spPr>
          <a:xfrm>
            <a:off x="7781544" y="1325880"/>
            <a:ext cx="548640" cy="548640"/>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7918704" y="1463040"/>
            <a:ext cx="274320" cy="274320"/>
          </a:xfrm>
          <a:prstGeom prst="rect">
            <a:avLst/>
          </a:prstGeom>
        </p:spPr>
      </p:pic>
      <p:sp>
        <p:nvSpPr>
          <p:cNvPr id="31" name="Text 23"/>
          <p:cNvSpPr txBox="1"/>
          <p:nvPr/>
        </p:nvSpPr>
        <p:spPr>
          <a:xfrm>
            <a:off x="7498080" y="1965960"/>
            <a:ext cx="1115568" cy="320040"/>
          </a:xfrm>
          <a:prstGeom prst="rect">
            <a:avLst/>
          </a:prstGeom>
          <a:noFill/>
          <a:ln/>
        </p:spPr>
        <p:txBody>
          <a:bodyPr wrap="square" lIns="0" tIns="0" rIns="0" bIns="0" rtlCol="0" anchor="ctr"/>
          <a:lstStyle/>
          <a:p>
            <a:pPr algn="ctr" indent="0" marL="0">
              <a:buNone/>
            </a:pPr>
            <a:r>
              <a:rPr lang="en-US" sz="1400" b="1" dirty="0">
                <a:solidFill>
                  <a:schemeClr val="tx2"/>
                </a:solidFill>
              </a:rPr>
              <a:t>6. Decide</a:t>
            </a:r>
            <a:endParaRPr lang="en-US" sz="1400" dirty="0"/>
          </a:p>
        </p:txBody>
      </p:sp>
      <p:sp>
        <p:nvSpPr>
          <p:cNvPr id="32" name="Text 24"/>
          <p:cNvSpPr txBox="1"/>
          <p:nvPr/>
        </p:nvSpPr>
        <p:spPr>
          <a:xfrm>
            <a:off x="7516368" y="2286000"/>
            <a:ext cx="1078992" cy="685800"/>
          </a:xfrm>
          <a:prstGeom prst="rect">
            <a:avLst/>
          </a:prstGeom>
          <a:noFill/>
          <a:ln/>
        </p:spPr>
        <p:txBody>
          <a:bodyPr wrap="square" lIns="0" tIns="0" rIns="0" bIns="0" rtlCol="0" anchor="t"/>
          <a:lstStyle/>
          <a:p>
            <a:pPr algn="ctr" indent="0" marL="0">
              <a:buNone/>
            </a:pPr>
            <a:r>
              <a:rPr lang="en-US" sz="1050" dirty="0">
                <a:solidFill>
                  <a:schemeClr val="tx1"/>
                </a:solidFill>
              </a:rPr>
              <a:t>Officer acts, Collector verifies, audit log</a:t>
            </a:r>
            <a:endParaRPr lang="en-US" sz="1050" dirty="0"/>
          </a:p>
        </p:txBody>
      </p:sp>
      <p:sp>
        <p:nvSpPr>
          <p:cNvPr id="33" name="Text 25"/>
          <p:cNvSpPr txBox="1"/>
          <p:nvPr/>
        </p:nvSpPr>
        <p:spPr>
          <a:xfrm>
            <a:off x="457200" y="3291840"/>
            <a:ext cx="192024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8</a:t>
            </a:r>
            <a:endParaRPr lang="en-US" sz="3200" dirty="0"/>
          </a:p>
        </p:txBody>
      </p:sp>
      <p:sp>
        <p:nvSpPr>
          <p:cNvPr id="34" name="Text 26"/>
          <p:cNvSpPr txBox="1"/>
          <p:nvPr/>
        </p:nvSpPr>
        <p:spPr>
          <a:xfrm>
            <a:off x="457200" y="3886200"/>
            <a:ext cx="1874520" cy="548640"/>
          </a:xfrm>
          <a:prstGeom prst="rect">
            <a:avLst/>
          </a:prstGeom>
          <a:noFill/>
          <a:ln/>
        </p:spPr>
        <p:txBody>
          <a:bodyPr wrap="square" lIns="0" tIns="0" rIns="0" bIns="0" rtlCol="0" anchor="t"/>
          <a:lstStyle/>
          <a:p>
            <a:pPr indent="0" marL="0">
              <a:buNone/>
            </a:pPr>
            <a:r>
              <a:rPr lang="en-US" sz="1100" dirty="0">
                <a:solidFill>
                  <a:schemeClr val="accent4"/>
                </a:solidFill>
              </a:rPr>
              <a:t>data feeds collected automatically</a:t>
            </a:r>
            <a:endParaRPr lang="en-US" sz="1100" dirty="0"/>
          </a:p>
        </p:txBody>
      </p:sp>
      <p:sp>
        <p:nvSpPr>
          <p:cNvPr id="35" name="Text 27"/>
          <p:cNvSpPr txBox="1"/>
          <p:nvPr/>
        </p:nvSpPr>
        <p:spPr>
          <a:xfrm>
            <a:off x="2560320" y="3291840"/>
            <a:ext cx="192024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20,600+</a:t>
            </a:r>
            <a:endParaRPr lang="en-US" sz="3200" dirty="0"/>
          </a:p>
        </p:txBody>
      </p:sp>
      <p:sp>
        <p:nvSpPr>
          <p:cNvPr id="36" name="Text 28"/>
          <p:cNvSpPr txBox="1"/>
          <p:nvPr/>
        </p:nvSpPr>
        <p:spPr>
          <a:xfrm>
            <a:off x="2560320" y="3886200"/>
            <a:ext cx="1874520" cy="548640"/>
          </a:xfrm>
          <a:prstGeom prst="rect">
            <a:avLst/>
          </a:prstGeom>
          <a:noFill/>
          <a:ln/>
        </p:spPr>
        <p:txBody>
          <a:bodyPr wrap="square" lIns="0" tIns="0" rIns="0" bIns="0" rtlCol="0" anchor="t"/>
          <a:lstStyle/>
          <a:p>
            <a:pPr indent="0" marL="0">
              <a:buNone/>
            </a:pPr>
            <a:r>
              <a:rPr lang="en-US" sz="1100" dirty="0">
                <a:solidFill>
                  <a:schemeClr val="accent4"/>
                </a:solidFill>
              </a:rPr>
              <a:t>news articles in English and Tamil</a:t>
            </a:r>
            <a:endParaRPr lang="en-US" sz="1100" dirty="0"/>
          </a:p>
        </p:txBody>
      </p:sp>
      <p:sp>
        <p:nvSpPr>
          <p:cNvPr id="37" name="Text 29"/>
          <p:cNvSpPr txBox="1"/>
          <p:nvPr/>
        </p:nvSpPr>
        <p:spPr>
          <a:xfrm>
            <a:off x="4663440" y="3291840"/>
            <a:ext cx="192024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25</a:t>
            </a:r>
            <a:endParaRPr lang="en-US" sz="3200" dirty="0"/>
          </a:p>
        </p:txBody>
      </p:sp>
      <p:sp>
        <p:nvSpPr>
          <p:cNvPr id="38" name="Text 30"/>
          <p:cNvSpPr txBox="1"/>
          <p:nvPr/>
        </p:nvSpPr>
        <p:spPr>
          <a:xfrm>
            <a:off x="4663440" y="3886200"/>
            <a:ext cx="1874520" cy="548640"/>
          </a:xfrm>
          <a:prstGeom prst="rect">
            <a:avLst/>
          </a:prstGeom>
          <a:noFill/>
          <a:ln/>
        </p:spPr>
        <p:txBody>
          <a:bodyPr wrap="square" lIns="0" tIns="0" rIns="0" bIns="0" rtlCol="0" anchor="t"/>
          <a:lstStyle/>
          <a:p>
            <a:pPr indent="0" marL="0">
              <a:buNone/>
            </a:pPr>
            <a:r>
              <a:rPr lang="en-US" sz="1100" dirty="0">
                <a:solidFill>
                  <a:schemeClr val="accent4"/>
                </a:solidFill>
              </a:rPr>
              <a:t>department consoles linked to the Collector</a:t>
            </a:r>
            <a:endParaRPr lang="en-US" sz="1100" dirty="0"/>
          </a:p>
        </p:txBody>
      </p:sp>
      <p:sp>
        <p:nvSpPr>
          <p:cNvPr id="39" name="Text 31"/>
          <p:cNvSpPr txBox="1"/>
          <p:nvPr/>
        </p:nvSpPr>
        <p:spPr>
          <a:xfrm>
            <a:off x="6766560" y="3291840"/>
            <a:ext cx="192024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0.99</a:t>
            </a:r>
            <a:endParaRPr lang="en-US" sz="3200" dirty="0"/>
          </a:p>
        </p:txBody>
      </p:sp>
      <p:sp>
        <p:nvSpPr>
          <p:cNvPr id="40" name="Text 32"/>
          <p:cNvSpPr txBox="1"/>
          <p:nvPr/>
        </p:nvSpPr>
        <p:spPr>
          <a:xfrm>
            <a:off x="6766560" y="3886200"/>
            <a:ext cx="1874520" cy="548640"/>
          </a:xfrm>
          <a:prstGeom prst="rect">
            <a:avLst/>
          </a:prstGeom>
          <a:noFill/>
          <a:ln/>
        </p:spPr>
        <p:txBody>
          <a:bodyPr wrap="square" lIns="0" tIns="0" rIns="0" bIns="0" rtlCol="0" anchor="t"/>
          <a:lstStyle/>
          <a:p>
            <a:pPr indent="0" marL="0">
              <a:buNone/>
            </a:pPr>
            <a:r>
              <a:rPr lang="en-US" sz="1100" dirty="0">
                <a:solidFill>
                  <a:schemeClr val="accent4"/>
                </a:solidFill>
              </a:rPr>
              <a:t>precision when linking the same incident across sources</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we are going to do next</a:t>
            </a:r>
            <a:endParaRPr lang="en-US" sz="3000" dirty="0"/>
          </a:p>
        </p:txBody>
      </p:sp>
      <p:sp>
        <p:nvSpPr>
          <p:cNvPr id="3" name="phase-0"/>
          <p:cNvSpPr/>
          <p:nvPr/>
        </p:nvSpPr>
        <p:spPr>
          <a:xfrm>
            <a:off x="457200" y="1188720"/>
            <a:ext cx="2606040" cy="3291840"/>
          </a:xfrm>
          <a:prstGeom prst="roundRect">
            <a:avLst>
              <a:gd name="adj" fmla="val 3509"/>
            </a:avLst>
          </a:prstGeom>
          <a:solidFill>
            <a:schemeClr val="accent1"/>
          </a:solidFill>
          <a:ln/>
        </p:spPr>
      </p:sp>
      <p:sp>
        <p:nvSpPr>
          <p:cNvPr id="4" name="Shape 2"/>
          <p:cNvSpPr/>
          <p:nvPr/>
        </p:nvSpPr>
        <p:spPr>
          <a:xfrm>
            <a:off x="685800" y="1371600"/>
            <a:ext cx="502920" cy="502920"/>
          </a:xfrm>
          <a:prstGeom prst="ellipse">
            <a:avLst/>
          </a:prstGeom>
          <a:solidFill>
            <a:schemeClr val="bg1"/>
          </a:solidFill>
          <a:ln/>
        </p:spPr>
      </p:sp>
      <p:pic>
        <p:nvPicPr>
          <p:cNvPr id="5" name="Image 0" descr="preencoded.png">    </p:cNvPr>
          <p:cNvPicPr>
            <a:picLocks noChangeAspect="1"/>
          </p:cNvPicPr>
          <p:nvPr/>
        </p:nvPicPr>
        <p:blipFill>
          <a:blip r:embed="rId1"/>
          <a:stretch>
            <a:fillRect/>
          </a:stretch>
        </p:blipFill>
        <p:spPr>
          <a:xfrm>
            <a:off x="813816" y="1499616"/>
            <a:ext cx="246888" cy="246888"/>
          </a:xfrm>
          <a:prstGeom prst="rect">
            <a:avLst/>
          </a:prstGeom>
        </p:spPr>
      </p:pic>
      <p:sp>
        <p:nvSpPr>
          <p:cNvPr id="6" name="Text 3"/>
          <p:cNvSpPr txBox="1"/>
          <p:nvPr/>
        </p:nvSpPr>
        <p:spPr>
          <a:xfrm>
            <a:off x="1325880" y="1371600"/>
            <a:ext cx="1645920" cy="246888"/>
          </a:xfrm>
          <a:prstGeom prst="rect">
            <a:avLst/>
          </a:prstGeom>
          <a:noFill/>
          <a:ln/>
        </p:spPr>
        <p:txBody>
          <a:bodyPr wrap="square" lIns="0" tIns="0" rIns="0" bIns="0" rtlCol="0" anchor="ctr"/>
          <a:lstStyle/>
          <a:p>
            <a:pPr indent="0" marL="0">
              <a:buNone/>
            </a:pPr>
            <a:r>
              <a:rPr lang="en-US" sz="1000" b="1" dirty="0">
                <a:solidFill>
                  <a:schemeClr val="bg2"/>
                </a:solidFill>
              </a:rPr>
              <a:t>Phase 1  ·  Pilot</a:t>
            </a:r>
            <a:endParaRPr lang="en-US" sz="1000" dirty="0"/>
          </a:p>
        </p:txBody>
      </p:sp>
      <p:sp>
        <p:nvSpPr>
          <p:cNvPr id="7" name="Text 4"/>
          <p:cNvSpPr txBox="1"/>
          <p:nvPr/>
        </p:nvSpPr>
        <p:spPr>
          <a:xfrm>
            <a:off x="1325880" y="1600200"/>
            <a:ext cx="1645920" cy="32004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Real data in</a:t>
            </a:r>
            <a:endParaRPr lang="en-US" sz="1700" dirty="0"/>
          </a:p>
        </p:txBody>
      </p:sp>
      <p:sp>
        <p:nvSpPr>
          <p:cNvPr id="8" name="Text 5"/>
          <p:cNvSpPr txBox="1"/>
          <p:nvPr/>
        </p:nvSpPr>
        <p:spPr>
          <a:xfrm>
            <a:off x="685800" y="2103120"/>
            <a:ext cx="2194560" cy="224028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chemeClr val="bg1"/>
                </a:solidFill>
              </a:rPr>
              <a:t>Connect the real department systems in place of our synthetic records</a:t>
            </a:r>
            <a:endParaRPr lang="en-US" sz="1250" dirty="0"/>
          </a:p>
          <a:p>
            <a:pPr marL="203200" indent="-203200">
              <a:spcAft>
                <a:spcPts val="800"/>
              </a:spcAft>
              <a:buSzPct val="100000"/>
              <a:buChar char="•"/>
            </a:pPr>
            <a:r>
              <a:rPr lang="en-US" sz="1250" dirty="0">
                <a:solidFill>
                  <a:schemeClr val="bg1"/>
                </a:solidFill>
              </a:rPr>
              <a:t>Label more news to make the incident filter more accurate</a:t>
            </a:r>
            <a:endParaRPr lang="en-US" sz="1250" dirty="0"/>
          </a:p>
          <a:p>
            <a:pPr marL="203200" indent="-203200">
              <a:spcAft>
                <a:spcPts val="800"/>
              </a:spcAft>
              <a:buSzPct val="100000"/>
              <a:buChar char="•"/>
            </a:pPr>
            <a:r>
              <a:rPr lang="en-US" sz="1250" dirty="0">
                <a:solidFill>
                  <a:schemeClr val="bg1"/>
                </a:solidFill>
              </a:rPr>
              <a:t>Use full article text to join English and Tamil stories</a:t>
            </a:r>
            <a:endParaRPr lang="en-US" sz="1250" dirty="0"/>
          </a:p>
        </p:txBody>
      </p:sp>
      <p:sp>
        <p:nvSpPr>
          <p:cNvPr id="9" name="phase-1"/>
          <p:cNvSpPr/>
          <p:nvPr/>
        </p:nvSpPr>
        <p:spPr>
          <a:xfrm>
            <a:off x="3264408" y="1188720"/>
            <a:ext cx="2606040" cy="3291840"/>
          </a:xfrm>
          <a:prstGeom prst="roundRect">
            <a:avLst>
              <a:gd name="adj" fmla="val 3509"/>
            </a:avLst>
          </a:prstGeom>
          <a:solidFill>
            <a:schemeClr val="bg2"/>
          </a:solidFill>
          <a:ln/>
        </p:spPr>
      </p:sp>
      <p:sp>
        <p:nvSpPr>
          <p:cNvPr id="10" name="Shape 7"/>
          <p:cNvSpPr/>
          <p:nvPr/>
        </p:nvSpPr>
        <p:spPr>
          <a:xfrm>
            <a:off x="3493008" y="1371600"/>
            <a:ext cx="502920" cy="50292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621024" y="1499616"/>
            <a:ext cx="246888" cy="246888"/>
          </a:xfrm>
          <a:prstGeom prst="rect">
            <a:avLst/>
          </a:prstGeom>
        </p:spPr>
      </p:pic>
      <p:sp>
        <p:nvSpPr>
          <p:cNvPr id="12" name="Text 8"/>
          <p:cNvSpPr txBox="1"/>
          <p:nvPr/>
        </p:nvSpPr>
        <p:spPr>
          <a:xfrm>
            <a:off x="4133088" y="1371600"/>
            <a:ext cx="1645920" cy="246888"/>
          </a:xfrm>
          <a:prstGeom prst="rect">
            <a:avLst/>
          </a:prstGeom>
          <a:noFill/>
          <a:ln/>
        </p:spPr>
        <p:txBody>
          <a:bodyPr wrap="square" lIns="0" tIns="0" rIns="0" bIns="0" rtlCol="0" anchor="ctr"/>
          <a:lstStyle/>
          <a:p>
            <a:pPr indent="0" marL="0">
              <a:buNone/>
            </a:pPr>
            <a:r>
              <a:rPr lang="en-US" sz="1000" b="1" dirty="0">
                <a:solidFill>
                  <a:schemeClr val="accent4"/>
                </a:solidFill>
              </a:rPr>
              <a:t>Phase 2  ·  Field</a:t>
            </a:r>
            <a:endParaRPr lang="en-US" sz="1000" dirty="0"/>
          </a:p>
        </p:txBody>
      </p:sp>
      <p:sp>
        <p:nvSpPr>
          <p:cNvPr id="13" name="Text 9"/>
          <p:cNvSpPr txBox="1"/>
          <p:nvPr/>
        </p:nvSpPr>
        <p:spPr>
          <a:xfrm>
            <a:off x="4133088" y="1600200"/>
            <a:ext cx="1645920" cy="3200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Reach the field</a:t>
            </a:r>
            <a:endParaRPr lang="en-US" sz="1700" dirty="0"/>
          </a:p>
        </p:txBody>
      </p:sp>
      <p:sp>
        <p:nvSpPr>
          <p:cNvPr id="14" name="Text 10"/>
          <p:cNvSpPr txBox="1"/>
          <p:nvPr/>
        </p:nvSpPr>
        <p:spPr>
          <a:xfrm>
            <a:off x="3493008" y="2103120"/>
            <a:ext cx="2194560" cy="224028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chemeClr val="tx2"/>
                </a:solidFill>
              </a:rPr>
              <a:t>Mobile app for field officers with geotagged photos</a:t>
            </a:r>
            <a:endParaRPr lang="en-US" sz="1250" dirty="0"/>
          </a:p>
          <a:p>
            <a:pPr marL="203200" indent="-203200">
              <a:spcAft>
                <a:spcPts val="800"/>
              </a:spcAft>
              <a:buSzPct val="100000"/>
              <a:buChar char="•"/>
            </a:pPr>
            <a:r>
              <a:rPr lang="en-US" sz="1250" dirty="0">
                <a:solidFill>
                  <a:schemeClr val="tx2"/>
                </a:solidFill>
              </a:rPr>
              <a:t>SMS and WhatsApp alerts for severe incidents</a:t>
            </a:r>
            <a:endParaRPr lang="en-US" sz="1250" dirty="0"/>
          </a:p>
          <a:p>
            <a:pPr marL="203200" indent="-203200">
              <a:spcAft>
                <a:spcPts val="800"/>
              </a:spcAft>
              <a:buSzPct val="100000"/>
              <a:buChar char="•"/>
            </a:pPr>
            <a:r>
              <a:rPr lang="en-US" sz="1250" dirty="0">
                <a:solidFill>
                  <a:schemeClr val="tx2"/>
                </a:solidFill>
              </a:rPr>
              <a:t>Fully serverless AWS: scheduling and ML build in the cloud</a:t>
            </a:r>
            <a:endParaRPr lang="en-US" sz="1250" dirty="0"/>
          </a:p>
        </p:txBody>
      </p:sp>
      <p:sp>
        <p:nvSpPr>
          <p:cNvPr id="15" name="phase-2"/>
          <p:cNvSpPr/>
          <p:nvPr/>
        </p:nvSpPr>
        <p:spPr>
          <a:xfrm>
            <a:off x="6071616" y="1188720"/>
            <a:ext cx="2606040" cy="3291840"/>
          </a:xfrm>
          <a:prstGeom prst="roundRect">
            <a:avLst>
              <a:gd name="adj" fmla="val 3509"/>
            </a:avLst>
          </a:prstGeom>
          <a:solidFill>
            <a:schemeClr val="bg2"/>
          </a:solidFill>
          <a:ln/>
        </p:spPr>
      </p:sp>
      <p:sp>
        <p:nvSpPr>
          <p:cNvPr id="16" name="Shape 12"/>
          <p:cNvSpPr/>
          <p:nvPr/>
        </p:nvSpPr>
        <p:spPr>
          <a:xfrm>
            <a:off x="6300216" y="1371600"/>
            <a:ext cx="502920" cy="50292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428232" y="1499616"/>
            <a:ext cx="246888" cy="246888"/>
          </a:xfrm>
          <a:prstGeom prst="rect">
            <a:avLst/>
          </a:prstGeom>
        </p:spPr>
      </p:pic>
      <p:sp>
        <p:nvSpPr>
          <p:cNvPr id="18" name="Text 13"/>
          <p:cNvSpPr txBox="1"/>
          <p:nvPr/>
        </p:nvSpPr>
        <p:spPr>
          <a:xfrm>
            <a:off x="6940296" y="1371600"/>
            <a:ext cx="1645920" cy="246888"/>
          </a:xfrm>
          <a:prstGeom prst="rect">
            <a:avLst/>
          </a:prstGeom>
          <a:noFill/>
          <a:ln/>
        </p:spPr>
        <p:txBody>
          <a:bodyPr wrap="square" lIns="0" tIns="0" rIns="0" bIns="0" rtlCol="0" anchor="ctr"/>
          <a:lstStyle/>
          <a:p>
            <a:pPr indent="0" marL="0">
              <a:buNone/>
            </a:pPr>
            <a:r>
              <a:rPr lang="en-US" sz="1000" b="1" dirty="0">
                <a:solidFill>
                  <a:schemeClr val="accent4"/>
                </a:solidFill>
              </a:rPr>
              <a:t>Phase 3  ·  Scale</a:t>
            </a:r>
            <a:endParaRPr lang="en-US" sz="1000" dirty="0"/>
          </a:p>
        </p:txBody>
      </p:sp>
      <p:sp>
        <p:nvSpPr>
          <p:cNvPr id="19" name="Text 14"/>
          <p:cNvSpPr txBox="1"/>
          <p:nvPr/>
        </p:nvSpPr>
        <p:spPr>
          <a:xfrm>
            <a:off x="6940296" y="1600200"/>
            <a:ext cx="1645920" cy="3200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Every district</a:t>
            </a:r>
            <a:endParaRPr lang="en-US" sz="1700" dirty="0"/>
          </a:p>
        </p:txBody>
      </p:sp>
      <p:sp>
        <p:nvSpPr>
          <p:cNvPr id="20" name="Text 15"/>
          <p:cNvSpPr txBox="1"/>
          <p:nvPr/>
        </p:nvSpPr>
        <p:spPr>
          <a:xfrm>
            <a:off x="6300216" y="2103120"/>
            <a:ext cx="2194560" cy="224028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chemeClr val="tx2"/>
                </a:solidFill>
              </a:rPr>
              <a:t>New district = new reference data (wards, taluks, departments)</a:t>
            </a:r>
            <a:endParaRPr lang="en-US" sz="1250" dirty="0"/>
          </a:p>
          <a:p>
            <a:pPr marL="203200" indent="-203200">
              <a:spcAft>
                <a:spcPts val="800"/>
              </a:spcAft>
              <a:buSzPct val="100000"/>
              <a:buChar char="•"/>
            </a:pPr>
            <a:r>
              <a:rPr lang="en-US" sz="1250" dirty="0">
                <a:solidFill>
                  <a:schemeClr val="tx2"/>
                </a:solidFill>
              </a:rPr>
              <a:t>State-level view across Collectors</a:t>
            </a:r>
            <a:endParaRPr lang="en-US" sz="1250" dirty="0"/>
          </a:p>
          <a:p>
            <a:pPr marL="203200" indent="-203200">
              <a:spcAft>
                <a:spcPts val="800"/>
              </a:spcAft>
              <a:buSzPct val="100000"/>
              <a:buChar char="•"/>
            </a:pPr>
            <a:r>
              <a:rPr lang="en-US" sz="1250" dirty="0">
                <a:solidFill>
                  <a:schemeClr val="tx2"/>
                </a:solidFill>
              </a:rPr>
              <a:t>Learn priority weights from the Collector's own decisions</a:t>
            </a:r>
            <a:endParaRPr lang="en-US" sz="125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Why our solution is the best</a:t>
            </a:r>
            <a:endParaRPr lang="en-US" sz="3000" dirty="0"/>
          </a:p>
        </p:txBody>
      </p:sp>
      <p:sp>
        <p:nvSpPr>
          <p:cNvPr id="3" name="why-0"/>
          <p:cNvSpPr/>
          <p:nvPr/>
        </p:nvSpPr>
        <p:spPr>
          <a:xfrm>
            <a:off x="457200" y="1188720"/>
            <a:ext cx="2606040" cy="1508760"/>
          </a:xfrm>
          <a:prstGeom prst="roundRect">
            <a:avLst>
              <a:gd name="adj" fmla="val 6061"/>
            </a:avLst>
          </a:prstGeom>
          <a:solidFill>
            <a:schemeClr val="accent1"/>
          </a:solidFill>
          <a:ln/>
        </p:spPr>
      </p:sp>
      <p:sp>
        <p:nvSpPr>
          <p:cNvPr id="4" name="Shape 2"/>
          <p:cNvSpPr/>
          <p:nvPr/>
        </p:nvSpPr>
        <p:spPr>
          <a:xfrm>
            <a:off x="640080" y="1371600"/>
            <a:ext cx="457200" cy="45720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754380" y="1485900"/>
            <a:ext cx="228600" cy="228600"/>
          </a:xfrm>
          <a:prstGeom prst="rect">
            <a:avLst/>
          </a:prstGeom>
        </p:spPr>
      </p:pic>
      <p:sp>
        <p:nvSpPr>
          <p:cNvPr id="6" name="Text 3"/>
          <p:cNvSpPr txBox="1"/>
          <p:nvPr/>
        </p:nvSpPr>
        <p:spPr>
          <a:xfrm>
            <a:off x="1207008" y="1353312"/>
            <a:ext cx="1737360" cy="512064"/>
          </a:xfrm>
          <a:prstGeom prst="rect">
            <a:avLst/>
          </a:prstGeom>
          <a:noFill/>
          <a:ln/>
        </p:spPr>
        <p:txBody>
          <a:bodyPr wrap="square" lIns="0" tIns="0" rIns="0" bIns="0" rtlCol="0" anchor="ctr"/>
          <a:lstStyle/>
          <a:p>
            <a:pPr indent="0" marL="0">
              <a:buNone/>
            </a:pPr>
            <a:r>
              <a:rPr lang="en-US" sz="1300" b="1" dirty="0">
                <a:solidFill>
                  <a:schemeClr val="bg1"/>
                </a:solidFill>
              </a:rPr>
              <a:t>One incident, not four records</a:t>
            </a:r>
            <a:endParaRPr lang="en-US" sz="1300" dirty="0"/>
          </a:p>
        </p:txBody>
      </p:sp>
      <p:sp>
        <p:nvSpPr>
          <p:cNvPr id="7" name="Text 4"/>
          <p:cNvSpPr txBox="1"/>
          <p:nvPr/>
        </p:nvSpPr>
        <p:spPr>
          <a:xfrm>
            <a:off x="640080" y="1938528"/>
            <a:ext cx="2286000" cy="685800"/>
          </a:xfrm>
          <a:prstGeom prst="rect">
            <a:avLst/>
          </a:prstGeom>
          <a:noFill/>
          <a:ln/>
        </p:spPr>
        <p:txBody>
          <a:bodyPr wrap="square" lIns="0" tIns="0" rIns="0" bIns="0" rtlCol="0" anchor="t"/>
          <a:lstStyle/>
          <a:p>
            <a:pPr indent="0" marL="0">
              <a:buNone/>
            </a:pPr>
            <a:r>
              <a:rPr lang="en-US" sz="1100" dirty="0">
                <a:solidFill>
                  <a:schemeClr val="bg2"/>
                </a:solidFill>
              </a:rPr>
              <a:t>Cross-source linking joins grievance, police, PWD and news. Precision 0.99.</a:t>
            </a:r>
            <a:endParaRPr lang="en-US" sz="1100" dirty="0"/>
          </a:p>
        </p:txBody>
      </p:sp>
      <p:sp>
        <p:nvSpPr>
          <p:cNvPr id="8" name="why-1"/>
          <p:cNvSpPr/>
          <p:nvPr/>
        </p:nvSpPr>
        <p:spPr>
          <a:xfrm>
            <a:off x="3264408" y="1188720"/>
            <a:ext cx="2606040" cy="1508760"/>
          </a:xfrm>
          <a:prstGeom prst="roundRect">
            <a:avLst>
              <a:gd name="adj" fmla="val 6061"/>
            </a:avLst>
          </a:prstGeom>
          <a:solidFill>
            <a:schemeClr val="accent1"/>
          </a:solidFill>
          <a:ln/>
        </p:spPr>
      </p:sp>
      <p:sp>
        <p:nvSpPr>
          <p:cNvPr id="9" name="Shape 6"/>
          <p:cNvSpPr/>
          <p:nvPr/>
        </p:nvSpPr>
        <p:spPr>
          <a:xfrm>
            <a:off x="3447288" y="1371600"/>
            <a:ext cx="457200" cy="45720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3561588" y="1485900"/>
            <a:ext cx="228600" cy="228600"/>
          </a:xfrm>
          <a:prstGeom prst="rect">
            <a:avLst/>
          </a:prstGeom>
        </p:spPr>
      </p:pic>
      <p:sp>
        <p:nvSpPr>
          <p:cNvPr id="11" name="Text 7"/>
          <p:cNvSpPr txBox="1"/>
          <p:nvPr/>
        </p:nvSpPr>
        <p:spPr>
          <a:xfrm>
            <a:off x="4014216" y="1353312"/>
            <a:ext cx="1737360" cy="512064"/>
          </a:xfrm>
          <a:prstGeom prst="rect">
            <a:avLst/>
          </a:prstGeom>
          <a:noFill/>
          <a:ln/>
        </p:spPr>
        <p:txBody>
          <a:bodyPr wrap="square" lIns="0" tIns="0" rIns="0" bIns="0" rtlCol="0" anchor="ctr"/>
          <a:lstStyle/>
          <a:p>
            <a:pPr indent="0" marL="0">
              <a:buNone/>
            </a:pPr>
            <a:r>
              <a:rPr lang="en-US" sz="1300" b="1" dirty="0">
                <a:solidFill>
                  <a:schemeClr val="bg1"/>
                </a:solidFill>
              </a:rPr>
              <a:t>Numbers are never invented</a:t>
            </a:r>
            <a:endParaRPr lang="en-US" sz="1300" dirty="0"/>
          </a:p>
        </p:txBody>
      </p:sp>
      <p:sp>
        <p:nvSpPr>
          <p:cNvPr id="12" name="Text 8"/>
          <p:cNvSpPr txBox="1"/>
          <p:nvPr/>
        </p:nvSpPr>
        <p:spPr>
          <a:xfrm>
            <a:off x="3447288" y="1938528"/>
            <a:ext cx="2286000" cy="685800"/>
          </a:xfrm>
          <a:prstGeom prst="rect">
            <a:avLst/>
          </a:prstGeom>
          <a:noFill/>
          <a:ln/>
        </p:spPr>
        <p:txBody>
          <a:bodyPr wrap="square" lIns="0" tIns="0" rIns="0" bIns="0" rtlCol="0" anchor="t"/>
          <a:lstStyle/>
          <a:p>
            <a:pPr indent="0" marL="0">
              <a:buNone/>
            </a:pPr>
            <a:r>
              <a:rPr lang="en-US" sz="1100" dirty="0">
                <a:solidFill>
                  <a:schemeClr val="bg2"/>
                </a:solidFill>
              </a:rPr>
              <a:t>AI only words the answer. A verifier checks every figure against the data.</a:t>
            </a:r>
            <a:endParaRPr lang="en-US" sz="1100" dirty="0"/>
          </a:p>
        </p:txBody>
      </p:sp>
      <p:sp>
        <p:nvSpPr>
          <p:cNvPr id="13" name="why-2"/>
          <p:cNvSpPr/>
          <p:nvPr/>
        </p:nvSpPr>
        <p:spPr>
          <a:xfrm>
            <a:off x="6071616" y="1188720"/>
            <a:ext cx="2606040" cy="1508760"/>
          </a:xfrm>
          <a:prstGeom prst="roundRect">
            <a:avLst>
              <a:gd name="adj" fmla="val 6061"/>
            </a:avLst>
          </a:prstGeom>
          <a:solidFill>
            <a:schemeClr val="accent1"/>
          </a:solidFill>
          <a:ln/>
        </p:spPr>
      </p:sp>
      <p:sp>
        <p:nvSpPr>
          <p:cNvPr id="14" name="Shape 10"/>
          <p:cNvSpPr/>
          <p:nvPr/>
        </p:nvSpPr>
        <p:spPr>
          <a:xfrm>
            <a:off x="6254496" y="1371600"/>
            <a:ext cx="457200" cy="45720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6368796" y="1485900"/>
            <a:ext cx="228600" cy="228600"/>
          </a:xfrm>
          <a:prstGeom prst="rect">
            <a:avLst/>
          </a:prstGeom>
        </p:spPr>
      </p:pic>
      <p:sp>
        <p:nvSpPr>
          <p:cNvPr id="16" name="Text 11"/>
          <p:cNvSpPr txBox="1"/>
          <p:nvPr/>
        </p:nvSpPr>
        <p:spPr>
          <a:xfrm>
            <a:off x="6821424" y="1353312"/>
            <a:ext cx="1737360" cy="512064"/>
          </a:xfrm>
          <a:prstGeom prst="rect">
            <a:avLst/>
          </a:prstGeom>
          <a:noFill/>
          <a:ln/>
        </p:spPr>
        <p:txBody>
          <a:bodyPr wrap="square" lIns="0" tIns="0" rIns="0" bIns="0" rtlCol="0" anchor="ctr"/>
          <a:lstStyle/>
          <a:p>
            <a:pPr indent="0" marL="0">
              <a:buNone/>
            </a:pPr>
            <a:r>
              <a:rPr lang="en-US" sz="1300" b="1" dirty="0">
                <a:solidFill>
                  <a:schemeClr val="bg1"/>
                </a:solidFill>
              </a:rPr>
              <a:t>Every priority is explained</a:t>
            </a:r>
            <a:endParaRPr lang="en-US" sz="1300" dirty="0"/>
          </a:p>
        </p:txBody>
      </p:sp>
      <p:sp>
        <p:nvSpPr>
          <p:cNvPr id="17" name="Text 12"/>
          <p:cNvSpPr txBox="1"/>
          <p:nvPr/>
        </p:nvSpPr>
        <p:spPr>
          <a:xfrm>
            <a:off x="6254496" y="1938528"/>
            <a:ext cx="2286000" cy="685800"/>
          </a:xfrm>
          <a:prstGeom prst="rect">
            <a:avLst/>
          </a:prstGeom>
          <a:noFill/>
          <a:ln/>
        </p:spPr>
        <p:txBody>
          <a:bodyPr wrap="square" lIns="0" tIns="0" rIns="0" bIns="0" rtlCol="0" anchor="t"/>
          <a:lstStyle/>
          <a:p>
            <a:pPr indent="0" marL="0">
              <a:buNone/>
            </a:pPr>
            <a:r>
              <a:rPr lang="en-US" sz="1100" dirty="0">
                <a:solidFill>
                  <a:schemeClr val="bg2"/>
                </a:solidFill>
              </a:rPr>
              <a:t>Plain reasons: past deadline, 3 sources, rain-linked. No black box.</a:t>
            </a:r>
            <a:endParaRPr lang="en-US" sz="1100" dirty="0"/>
          </a:p>
        </p:txBody>
      </p:sp>
      <p:sp>
        <p:nvSpPr>
          <p:cNvPr id="18" name="why-3"/>
          <p:cNvSpPr/>
          <p:nvPr/>
        </p:nvSpPr>
        <p:spPr>
          <a:xfrm>
            <a:off x="457200" y="2880360"/>
            <a:ext cx="2606040" cy="1508760"/>
          </a:xfrm>
          <a:prstGeom prst="roundRect">
            <a:avLst>
              <a:gd name="adj" fmla="val 6061"/>
            </a:avLst>
          </a:prstGeom>
          <a:solidFill>
            <a:schemeClr val="accent1"/>
          </a:solidFill>
          <a:ln/>
        </p:spPr>
      </p:sp>
      <p:sp>
        <p:nvSpPr>
          <p:cNvPr id="19" name="Shape 14"/>
          <p:cNvSpPr/>
          <p:nvPr/>
        </p:nvSpPr>
        <p:spPr>
          <a:xfrm>
            <a:off x="640080" y="3063240"/>
            <a:ext cx="457200" cy="457200"/>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754380" y="3177540"/>
            <a:ext cx="228600" cy="228600"/>
          </a:xfrm>
          <a:prstGeom prst="rect">
            <a:avLst/>
          </a:prstGeom>
        </p:spPr>
      </p:pic>
      <p:sp>
        <p:nvSpPr>
          <p:cNvPr id="21" name="Text 15"/>
          <p:cNvSpPr txBox="1"/>
          <p:nvPr/>
        </p:nvSpPr>
        <p:spPr>
          <a:xfrm>
            <a:off x="1207008" y="3044952"/>
            <a:ext cx="1737360" cy="512064"/>
          </a:xfrm>
          <a:prstGeom prst="rect">
            <a:avLst/>
          </a:prstGeom>
          <a:noFill/>
          <a:ln/>
        </p:spPr>
        <p:txBody>
          <a:bodyPr wrap="square" lIns="0" tIns="0" rIns="0" bIns="0" rtlCol="0" anchor="ctr"/>
          <a:lstStyle/>
          <a:p>
            <a:pPr indent="0" marL="0">
              <a:buNone/>
            </a:pPr>
            <a:r>
              <a:rPr lang="en-US" sz="1300" b="1" dirty="0">
                <a:solidFill>
                  <a:schemeClr val="bg1"/>
                </a:solidFill>
              </a:rPr>
              <a:t>Closed loop, with proof</a:t>
            </a:r>
            <a:endParaRPr lang="en-US" sz="1300" dirty="0"/>
          </a:p>
        </p:txBody>
      </p:sp>
      <p:sp>
        <p:nvSpPr>
          <p:cNvPr id="22" name="Text 16"/>
          <p:cNvSpPr txBox="1"/>
          <p:nvPr/>
        </p:nvSpPr>
        <p:spPr>
          <a:xfrm>
            <a:off x="640080" y="3630168"/>
            <a:ext cx="2286000" cy="685800"/>
          </a:xfrm>
          <a:prstGeom prst="rect">
            <a:avLst/>
          </a:prstGeom>
          <a:noFill/>
          <a:ln/>
        </p:spPr>
        <p:txBody>
          <a:bodyPr wrap="square" lIns="0" tIns="0" rIns="0" bIns="0" rtlCol="0" anchor="t"/>
          <a:lstStyle/>
          <a:p>
            <a:pPr indent="0" marL="0">
              <a:buNone/>
            </a:pPr>
            <a:r>
              <a:rPr lang="en-US" sz="1100" dirty="0">
                <a:solidFill>
                  <a:schemeClr val="bg2"/>
                </a:solidFill>
              </a:rPr>
              <a:t>Officer completes with a photo, Collector verifies, all in the audit log.</a:t>
            </a:r>
            <a:endParaRPr lang="en-US" sz="1100" dirty="0"/>
          </a:p>
        </p:txBody>
      </p:sp>
      <p:sp>
        <p:nvSpPr>
          <p:cNvPr id="23" name="why-4"/>
          <p:cNvSpPr/>
          <p:nvPr/>
        </p:nvSpPr>
        <p:spPr>
          <a:xfrm>
            <a:off x="3264408" y="2880360"/>
            <a:ext cx="2606040" cy="1508760"/>
          </a:xfrm>
          <a:prstGeom prst="roundRect">
            <a:avLst>
              <a:gd name="adj" fmla="val 6061"/>
            </a:avLst>
          </a:prstGeom>
          <a:solidFill>
            <a:schemeClr val="accent1"/>
          </a:solidFill>
          <a:ln/>
        </p:spPr>
      </p:sp>
      <p:sp>
        <p:nvSpPr>
          <p:cNvPr id="24" name="Shape 18"/>
          <p:cNvSpPr/>
          <p:nvPr/>
        </p:nvSpPr>
        <p:spPr>
          <a:xfrm>
            <a:off x="3447288" y="3063240"/>
            <a:ext cx="457200" cy="457200"/>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3561588" y="3177540"/>
            <a:ext cx="228600" cy="228600"/>
          </a:xfrm>
          <a:prstGeom prst="rect">
            <a:avLst/>
          </a:prstGeom>
        </p:spPr>
      </p:pic>
      <p:sp>
        <p:nvSpPr>
          <p:cNvPr id="26" name="Text 19"/>
          <p:cNvSpPr txBox="1"/>
          <p:nvPr/>
        </p:nvSpPr>
        <p:spPr>
          <a:xfrm>
            <a:off x="4014216" y="3044952"/>
            <a:ext cx="1737360" cy="512064"/>
          </a:xfrm>
          <a:prstGeom prst="rect">
            <a:avLst/>
          </a:prstGeom>
          <a:noFill/>
          <a:ln/>
        </p:spPr>
        <p:txBody>
          <a:bodyPr wrap="square" lIns="0" tIns="0" rIns="0" bIns="0" rtlCol="0" anchor="ctr"/>
          <a:lstStyle/>
          <a:p>
            <a:pPr indent="0" marL="0">
              <a:buNone/>
            </a:pPr>
            <a:r>
              <a:rPr lang="en-US" sz="1300" b="1" dirty="0">
                <a:solidFill>
                  <a:schemeClr val="bg1"/>
                </a:solidFill>
              </a:rPr>
              <a:t>Speaks Chennai's languages</a:t>
            </a:r>
            <a:endParaRPr lang="en-US" sz="1300" dirty="0"/>
          </a:p>
        </p:txBody>
      </p:sp>
      <p:sp>
        <p:nvSpPr>
          <p:cNvPr id="27" name="Text 20"/>
          <p:cNvSpPr txBox="1"/>
          <p:nvPr/>
        </p:nvSpPr>
        <p:spPr>
          <a:xfrm>
            <a:off x="3447288" y="3630168"/>
            <a:ext cx="2286000" cy="685800"/>
          </a:xfrm>
          <a:prstGeom prst="rect">
            <a:avLst/>
          </a:prstGeom>
          <a:noFill/>
          <a:ln/>
        </p:spPr>
        <p:txBody>
          <a:bodyPr wrap="square" lIns="0" tIns="0" rIns="0" bIns="0" rtlCol="0" anchor="t"/>
          <a:lstStyle/>
          <a:p>
            <a:pPr indent="0" marL="0">
              <a:buNone/>
            </a:pPr>
            <a:r>
              <a:rPr lang="en-US" sz="1100" dirty="0">
                <a:solidFill>
                  <a:schemeClr val="bg2"/>
                </a:solidFill>
              </a:rPr>
              <a:t>English, Tamil and Tanglish, typos included. Tamil news is read too.</a:t>
            </a:r>
            <a:endParaRPr lang="en-US" sz="1100" dirty="0"/>
          </a:p>
        </p:txBody>
      </p:sp>
      <p:sp>
        <p:nvSpPr>
          <p:cNvPr id="28" name="why-5"/>
          <p:cNvSpPr/>
          <p:nvPr/>
        </p:nvSpPr>
        <p:spPr>
          <a:xfrm>
            <a:off x="6071616" y="2880360"/>
            <a:ext cx="2606040" cy="1508760"/>
          </a:xfrm>
          <a:prstGeom prst="roundRect">
            <a:avLst>
              <a:gd name="adj" fmla="val 6061"/>
            </a:avLst>
          </a:prstGeom>
          <a:solidFill>
            <a:schemeClr val="accent1"/>
          </a:solidFill>
          <a:ln/>
        </p:spPr>
      </p:sp>
      <p:sp>
        <p:nvSpPr>
          <p:cNvPr id="29" name="Shape 22"/>
          <p:cNvSpPr/>
          <p:nvPr/>
        </p:nvSpPr>
        <p:spPr>
          <a:xfrm>
            <a:off x="6254496" y="3063240"/>
            <a:ext cx="457200" cy="457200"/>
          </a:xfrm>
          <a:prstGeom prst="ellipse">
            <a:avLst/>
          </a:prstGeom>
          <a:solidFill>
            <a:schemeClr val="accent2"/>
          </a:solidFill>
          <a:ln/>
        </p:spPr>
      </p:sp>
      <p:pic>
        <p:nvPicPr>
          <p:cNvPr id="30" name="Image 5" descr="preencoded.png">    </p:cNvPr>
          <p:cNvPicPr>
            <a:picLocks noChangeAspect="1"/>
          </p:cNvPicPr>
          <p:nvPr/>
        </p:nvPicPr>
        <p:blipFill>
          <a:blip r:embed="rId6"/>
          <a:stretch>
            <a:fillRect/>
          </a:stretch>
        </p:blipFill>
        <p:spPr>
          <a:xfrm>
            <a:off x="6368796" y="3177540"/>
            <a:ext cx="228600" cy="228600"/>
          </a:xfrm>
          <a:prstGeom prst="rect">
            <a:avLst/>
          </a:prstGeom>
        </p:spPr>
      </p:pic>
      <p:sp>
        <p:nvSpPr>
          <p:cNvPr id="31" name="Text 23"/>
          <p:cNvSpPr txBox="1"/>
          <p:nvPr/>
        </p:nvSpPr>
        <p:spPr>
          <a:xfrm>
            <a:off x="6821424" y="3044952"/>
            <a:ext cx="1737360" cy="512064"/>
          </a:xfrm>
          <a:prstGeom prst="rect">
            <a:avLst/>
          </a:prstGeom>
          <a:noFill/>
          <a:ln/>
        </p:spPr>
        <p:txBody>
          <a:bodyPr wrap="square" lIns="0" tIns="0" rIns="0" bIns="0" rtlCol="0" anchor="ctr"/>
          <a:lstStyle/>
          <a:p>
            <a:pPr indent="0" marL="0">
              <a:buNone/>
            </a:pPr>
            <a:r>
              <a:rPr lang="en-US" sz="1300" b="1" dirty="0">
                <a:solidFill>
                  <a:schemeClr val="bg1"/>
                </a:solidFill>
              </a:rPr>
              <a:t>Working, tested, on AWS</a:t>
            </a:r>
            <a:endParaRPr lang="en-US" sz="1300" dirty="0"/>
          </a:p>
        </p:txBody>
      </p:sp>
      <p:sp>
        <p:nvSpPr>
          <p:cNvPr id="32" name="Text 24"/>
          <p:cNvSpPr txBox="1"/>
          <p:nvPr/>
        </p:nvSpPr>
        <p:spPr>
          <a:xfrm>
            <a:off x="6254496" y="3630168"/>
            <a:ext cx="2286000" cy="685800"/>
          </a:xfrm>
          <a:prstGeom prst="rect">
            <a:avLst/>
          </a:prstGeom>
          <a:noFill/>
          <a:ln/>
        </p:spPr>
        <p:txBody>
          <a:bodyPr wrap="square" lIns="0" tIns="0" rIns="0" bIns="0" rtlCol="0" anchor="t"/>
          <a:lstStyle/>
          <a:p>
            <a:pPr indent="0" marL="0">
              <a:buNone/>
            </a:pPr>
            <a:r>
              <a:rPr lang="en-US" sz="1100" dirty="0">
                <a:solidFill>
                  <a:schemeClr val="bg2"/>
                </a:solidFill>
              </a:rPr>
              <a:t>Live prototype, about 300 automated tests, Lambda + S3 + DynamoDB + Bedrock.</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District IQ">
  <a:themeElements>
    <a:clrScheme name="District IQ">
      <a:dk1>
        <a:srgbClr val="1B2A30"/>
      </a:dk1>
      <a:lt1>
        <a:srgbClr val="FFFFFF"/>
      </a:lt1>
      <a:dk2>
        <a:srgbClr val="0F2F3A"/>
      </a:dk2>
      <a:lt2>
        <a:srgbClr val="EAF3F4"/>
      </a:lt2>
      <a:accent1>
        <a:srgbClr val="0E6E73"/>
      </a:accent1>
      <a:accent2>
        <a:srgbClr val="F2A23A"/>
      </a:accent2>
      <a:accent3>
        <a:srgbClr val="BFD9DC"/>
      </a:accent3>
      <a:accent4>
        <a:srgbClr val="5B6B72"/>
      </a:accent4>
      <a:accent5>
        <a:srgbClr val="2E8B57"/>
      </a:accent5>
      <a:accent6>
        <a:srgbClr val="C0504D"/>
      </a:accent6>
      <a:hlink>
        <a:srgbClr val="0E6E73"/>
      </a:hlink>
      <a:folHlink>
        <a:srgbClr val="5B6B72"/>
      </a:folHlink>
    </a:clrScheme>
    <a:fontScheme name="District IQ">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District IQ - Introduction</dc:title>
  <dc:subject>PptxGenJS Presentation</dc:subject>
  <dc:creator>District IQ team</dc:creator>
  <cp:lastModifiedBy>District IQ team</cp:lastModifiedBy>
  <cp:revision>1</cp:revision>
  <dcterms:created xsi:type="dcterms:W3CDTF">2026-10-02T07:03:11Z</dcterms:created>
  <dcterms:modified xsi:type="dcterms:W3CDTF">2026-10-02T07:03:11Z</dcterms:modified>
</cp:coreProperties>
</file>